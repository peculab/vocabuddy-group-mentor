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14f4fdd121c4e24" /><Relationship Type="http://schemas.openxmlformats.org/officeDocument/2006/relationships/extended-properties" Target="/docProps/app.xml" Id="R4899030fdb314cf7" /><Relationship Type="http://schemas.openxmlformats.org/officeDocument/2006/relationships/officeDocument" Target="/ppt/presentation.xml" Id="R2b1486cca58d453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df48abf471a45ac"/>
  </p:sldMasterIdLst>
  <p:notesMasterIdLst>
    <p:notesMasterId xmlns:r="http://schemas.openxmlformats.org/officeDocument/2006/relationships" r:id="R9450cb4b4f934224"/>
  </p:notesMasterIdLst>
  <p:sldIdLst>
    <p:sldId xmlns:r="http://schemas.openxmlformats.org/officeDocument/2006/relationships" id="256" r:id="Rd0ec7f7887084ac2"/>
    <p:sldId xmlns:r="http://schemas.openxmlformats.org/officeDocument/2006/relationships" id="257" r:id="R4ff77104158141b8"/>
    <p:sldId xmlns:r="http://schemas.openxmlformats.org/officeDocument/2006/relationships" id="258" r:id="R5723413c631c4364"/>
    <p:sldId xmlns:r="http://schemas.openxmlformats.org/officeDocument/2006/relationships" id="259" r:id="R2a3974ddb86a464b"/>
    <p:sldId xmlns:r="http://schemas.openxmlformats.org/officeDocument/2006/relationships" id="260" r:id="R0df55f2b69134d42"/>
    <p:sldId xmlns:r="http://schemas.openxmlformats.org/officeDocument/2006/relationships" id="261" r:id="Radbcdb003e354637"/>
    <p:sldId xmlns:r="http://schemas.openxmlformats.org/officeDocument/2006/relationships" id="262" r:id="R913dbb52e1924075"/>
    <p:sldId xmlns:r="http://schemas.openxmlformats.org/officeDocument/2006/relationships" id="263" r:id="R1aa1bec4b9644720"/>
    <p:sldId xmlns:r="http://schemas.openxmlformats.org/officeDocument/2006/relationships" id="264" r:id="R88ed7f2d59d74733"/>
    <p:sldId xmlns:r="http://schemas.openxmlformats.org/officeDocument/2006/relationships" id="265" r:id="Rc058373bcbe34ace"/>
    <p:sldId xmlns:r="http://schemas.openxmlformats.org/officeDocument/2006/relationships" id="266" r:id="R549678c5d05b4ba6"/>
    <p:sldId xmlns:r="http://schemas.openxmlformats.org/officeDocument/2006/relationships" id="267" r:id="Rcf9e08cc019a4074"/>
    <p:sldId xmlns:r="http://schemas.openxmlformats.org/officeDocument/2006/relationships" id="268" r:id="Rd32567c4bc004f52"/>
    <p:sldId xmlns:r="http://schemas.openxmlformats.org/officeDocument/2006/relationships" id="269" r:id="Rd9f83fea40fc4749"/>
    <p:sldId xmlns:r="http://schemas.openxmlformats.org/officeDocument/2006/relationships" id="270" r:id="Rc0e68552bfbd4a35"/>
    <p:sldId xmlns:r="http://schemas.openxmlformats.org/officeDocument/2006/relationships" id="271" r:id="Rbc328b26d6d7493e"/>
    <p:sldId xmlns:r="http://schemas.openxmlformats.org/officeDocument/2006/relationships" id="272" r:id="Rbbdc7a8e62494d4e"/>
    <p:sldId xmlns:r="http://schemas.openxmlformats.org/officeDocument/2006/relationships" id="273" r:id="R64edc20f92ef4335"/>
    <p:sldId xmlns:r="http://schemas.openxmlformats.org/officeDocument/2006/relationships" id="274" r:id="R3ee567d25cd24ac0"/>
    <p:sldId xmlns:r="http://schemas.openxmlformats.org/officeDocument/2006/relationships" id="275" r:id="Re2f162e574ca4d03"/>
    <p:sldId xmlns:r="http://schemas.openxmlformats.org/officeDocument/2006/relationships" id="276" r:id="Rf050bf948d7445a5"/>
    <p:sldId xmlns:r="http://schemas.openxmlformats.org/officeDocument/2006/relationships" id="277" r:id="Rea0158ef5dcb4c4f"/>
    <p:sldId xmlns:r="http://schemas.openxmlformats.org/officeDocument/2006/relationships" id="278" r:id="Rc28efc51a98e48e6"/>
    <p:sldId xmlns:r="http://schemas.openxmlformats.org/officeDocument/2006/relationships" id="279" r:id="R8f24f7a919f445db"/>
    <p:sldId xmlns:r="http://schemas.openxmlformats.org/officeDocument/2006/relationships" id="280" r:id="Rd51f78b98c4d459c"/>
    <p:sldId xmlns:r="http://schemas.openxmlformats.org/officeDocument/2006/relationships" id="281" r:id="Rfd3739caac644a3c"/>
    <p:sldId xmlns:r="http://schemas.openxmlformats.org/officeDocument/2006/relationships" id="282" r:id="R356675b111ce42a3"/>
    <p:sldId xmlns:r="http://schemas.openxmlformats.org/officeDocument/2006/relationships" id="283" r:id="Ra5041999c2ac42c3"/>
    <p:sldId xmlns:r="http://schemas.openxmlformats.org/officeDocument/2006/relationships" id="284" r:id="R5bfcc1127d8f46a0"/>
    <p:sldId xmlns:r="http://schemas.openxmlformats.org/officeDocument/2006/relationships" id="285" r:id="R235e3d32d23b4ed7"/>
    <p:sldId xmlns:r="http://schemas.openxmlformats.org/officeDocument/2006/relationships" id="286" r:id="R6f3f740fc41c4187"/>
    <p:sldId xmlns:r="http://schemas.openxmlformats.org/officeDocument/2006/relationships" id="287" r:id="R77b4915aefc14def"/>
    <p:sldId xmlns:r="http://schemas.openxmlformats.org/officeDocument/2006/relationships" id="288" r:id="R8a3da41ae1d44d5b"/>
    <p:sldId xmlns:r="http://schemas.openxmlformats.org/officeDocument/2006/relationships" id="289" r:id="R28ae6791d49e4566"/>
    <p:sldId xmlns:r="http://schemas.openxmlformats.org/officeDocument/2006/relationships" id="290" r:id="R95579a34513c4727"/>
    <p:sldId xmlns:r="http://schemas.openxmlformats.org/officeDocument/2006/relationships" id="291" r:id="Ra2830e107d4a4097"/>
    <p:sldId xmlns:r="http://schemas.openxmlformats.org/officeDocument/2006/relationships" id="292" r:id="R59a883c5c152420d"/>
    <p:sldId xmlns:r="http://schemas.openxmlformats.org/officeDocument/2006/relationships" id="293" r:id="Ra25a53d08da24079"/>
    <p:sldId xmlns:r="http://schemas.openxmlformats.org/officeDocument/2006/relationships" id="294" r:id="R223fd541ae7d473e"/>
    <p:sldId xmlns:r="http://schemas.openxmlformats.org/officeDocument/2006/relationships" id="295" r:id="Rca83ee1eff304390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a08f42928514073" /><Relationship Type="http://schemas.openxmlformats.org/officeDocument/2006/relationships/slideMaster" Target="/ppt/slideMasters/slideMaster1.xml" Id="R2df48abf471a45ac" /><Relationship Type="http://schemas.openxmlformats.org/officeDocument/2006/relationships/notesMaster" Target="/ppt/notesMasters/notesMaster1.xml" Id="R9450cb4b4f934224" /><Relationship Type="http://schemas.openxmlformats.org/officeDocument/2006/relationships/presProps" Target="/ppt/presProps.xml" Id="R59de23059cbb4203" /><Relationship Type="http://schemas.openxmlformats.org/officeDocument/2006/relationships/tableStyles" Target="/ppt/tableStyles.xml" Id="Rd1e8799841ea44c6" /><Relationship Type="http://schemas.openxmlformats.org/officeDocument/2006/relationships/slide" Target="/ppt/slides/slide1.xml" Id="Rd0ec7f7887084ac2" /><Relationship Type="http://schemas.openxmlformats.org/officeDocument/2006/relationships/slide" Target="/ppt/slides/slide2.xml" Id="R4ff77104158141b8" /><Relationship Type="http://schemas.openxmlformats.org/officeDocument/2006/relationships/slide" Target="/ppt/slides/slide3.xml" Id="R5723413c631c4364" /><Relationship Type="http://schemas.openxmlformats.org/officeDocument/2006/relationships/slide" Target="/ppt/slides/slide4.xml" Id="R2a3974ddb86a464b" /><Relationship Type="http://schemas.openxmlformats.org/officeDocument/2006/relationships/slide" Target="/ppt/slides/slide5.xml" Id="R0df55f2b69134d42" /><Relationship Type="http://schemas.openxmlformats.org/officeDocument/2006/relationships/slide" Target="/ppt/slides/slide6.xml" Id="Radbcdb003e354637" /><Relationship Type="http://schemas.openxmlformats.org/officeDocument/2006/relationships/slide" Target="/ppt/slides/slide7.xml" Id="R913dbb52e1924075" /><Relationship Type="http://schemas.openxmlformats.org/officeDocument/2006/relationships/slide" Target="/ppt/slides/slide8.xml" Id="R1aa1bec4b9644720" /><Relationship Type="http://schemas.openxmlformats.org/officeDocument/2006/relationships/slide" Target="/ppt/slides/slide9.xml" Id="R88ed7f2d59d74733" /><Relationship Type="http://schemas.openxmlformats.org/officeDocument/2006/relationships/slide" Target="/ppt/slides/slide10.xml" Id="Rc058373bcbe34ace" /><Relationship Type="http://schemas.openxmlformats.org/officeDocument/2006/relationships/slide" Target="/ppt/slides/slide11.xml" Id="R549678c5d05b4ba6" /><Relationship Type="http://schemas.openxmlformats.org/officeDocument/2006/relationships/slide" Target="/ppt/slides/slide12.xml" Id="Rcf9e08cc019a4074" /><Relationship Type="http://schemas.openxmlformats.org/officeDocument/2006/relationships/slide" Target="/ppt/slides/slide13.xml" Id="Rd32567c4bc004f52" /><Relationship Type="http://schemas.openxmlformats.org/officeDocument/2006/relationships/slide" Target="/ppt/slides/slide14.xml" Id="Rd9f83fea40fc4749" /><Relationship Type="http://schemas.openxmlformats.org/officeDocument/2006/relationships/slide" Target="/ppt/slides/slide15.xml" Id="Rc0e68552bfbd4a35" /><Relationship Type="http://schemas.openxmlformats.org/officeDocument/2006/relationships/slide" Target="/ppt/slides/slide16.xml" Id="Rbc328b26d6d7493e" /><Relationship Type="http://schemas.openxmlformats.org/officeDocument/2006/relationships/slide" Target="/ppt/slides/slide17.xml" Id="Rbbdc7a8e62494d4e" /><Relationship Type="http://schemas.openxmlformats.org/officeDocument/2006/relationships/slide" Target="/ppt/slides/slide18.xml" Id="R64edc20f92ef4335" /><Relationship Type="http://schemas.openxmlformats.org/officeDocument/2006/relationships/slide" Target="/ppt/slides/slide19.xml" Id="R3ee567d25cd24ac0" /><Relationship Type="http://schemas.openxmlformats.org/officeDocument/2006/relationships/slide" Target="/ppt/slides/slide20.xml" Id="Re2f162e574ca4d03" /><Relationship Type="http://schemas.openxmlformats.org/officeDocument/2006/relationships/slide" Target="/ppt/slides/slide21.xml" Id="Rf050bf948d7445a5" /><Relationship Type="http://schemas.openxmlformats.org/officeDocument/2006/relationships/slide" Target="/ppt/slides/slide22.xml" Id="Rea0158ef5dcb4c4f" /><Relationship Type="http://schemas.openxmlformats.org/officeDocument/2006/relationships/slide" Target="/ppt/slides/slide23.xml" Id="Rc28efc51a98e48e6" /><Relationship Type="http://schemas.openxmlformats.org/officeDocument/2006/relationships/slide" Target="/ppt/slides/slide24.xml" Id="R8f24f7a919f445db" /><Relationship Type="http://schemas.openxmlformats.org/officeDocument/2006/relationships/slide" Target="/ppt/slides/slide25.xml" Id="Rd51f78b98c4d459c" /><Relationship Type="http://schemas.openxmlformats.org/officeDocument/2006/relationships/slide" Target="/ppt/slides/slide26.xml" Id="Rfd3739caac644a3c" /><Relationship Type="http://schemas.openxmlformats.org/officeDocument/2006/relationships/slide" Target="/ppt/slides/slide27.xml" Id="R356675b111ce42a3" /><Relationship Type="http://schemas.openxmlformats.org/officeDocument/2006/relationships/slide" Target="/ppt/slides/slide28.xml" Id="Ra5041999c2ac42c3" /><Relationship Type="http://schemas.openxmlformats.org/officeDocument/2006/relationships/slide" Target="/ppt/slides/slide29.xml" Id="R5bfcc1127d8f46a0" /><Relationship Type="http://schemas.openxmlformats.org/officeDocument/2006/relationships/slide" Target="/ppt/slides/slide30.xml" Id="R235e3d32d23b4ed7" /><Relationship Type="http://schemas.openxmlformats.org/officeDocument/2006/relationships/slide" Target="/ppt/slides/slide31.xml" Id="R6f3f740fc41c4187" /><Relationship Type="http://schemas.openxmlformats.org/officeDocument/2006/relationships/slide" Target="/ppt/slides/slide32.xml" Id="R77b4915aefc14def" /><Relationship Type="http://schemas.openxmlformats.org/officeDocument/2006/relationships/slide" Target="/ppt/slides/slide33.xml" Id="R8a3da41ae1d44d5b" /><Relationship Type="http://schemas.openxmlformats.org/officeDocument/2006/relationships/slide" Target="/ppt/slides/slide34.xml" Id="R28ae6791d49e4566" /><Relationship Type="http://schemas.openxmlformats.org/officeDocument/2006/relationships/slide" Target="/ppt/slides/slide35.xml" Id="R95579a34513c4727" /><Relationship Type="http://schemas.openxmlformats.org/officeDocument/2006/relationships/slide" Target="/ppt/slides/slide36.xml" Id="Ra2830e107d4a4097" /><Relationship Type="http://schemas.openxmlformats.org/officeDocument/2006/relationships/slide" Target="/ppt/slides/slide37.xml" Id="R59a883c5c152420d" /><Relationship Type="http://schemas.openxmlformats.org/officeDocument/2006/relationships/slide" Target="/ppt/slides/slide38.xml" Id="Ra25a53d08da24079" /><Relationship Type="http://schemas.openxmlformats.org/officeDocument/2006/relationships/slide" Target="/ppt/slides/slide39.xml" Id="R223fd541ae7d473e" /><Relationship Type="http://schemas.openxmlformats.org/officeDocument/2006/relationships/slide" Target="/ppt/slides/slide40.xml" Id="Rca83ee1eff30439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7357e7bdcc24c8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5b6f44bc4914e7f" /><Relationship Type="http://schemas.openxmlformats.org/officeDocument/2006/relationships/notesMaster" Target="/ppt/notesMasters/notesMaster1.xml" Id="R94ae607a77df4a7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49fd7a7680e40a1" /><Relationship Type="http://schemas.openxmlformats.org/officeDocument/2006/relationships/notesMaster" Target="/ppt/notesMasters/notesMaster1.xml" Id="Rdce0f63fd6694dc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9d95255858048a6" /><Relationship Type="http://schemas.openxmlformats.org/officeDocument/2006/relationships/notesMaster" Target="/ppt/notesMasters/notesMaster1.xml" Id="Rd2ac6ff42fcf497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b57b4da7ce549df" /><Relationship Type="http://schemas.openxmlformats.org/officeDocument/2006/relationships/notesMaster" Target="/ppt/notesMasters/notesMaster1.xml" Id="Ra2a1b48f5c8b4f0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d55e46ee79142ce" /><Relationship Type="http://schemas.openxmlformats.org/officeDocument/2006/relationships/notesMaster" Target="/ppt/notesMasters/notesMaster1.xml" Id="R8ddaf5ecafa54c7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398009537a04dad" /><Relationship Type="http://schemas.openxmlformats.org/officeDocument/2006/relationships/notesMaster" Target="/ppt/notesMasters/notesMaster1.xml" Id="Rb32b0f124257422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a4b60f5462d4d3e" /><Relationship Type="http://schemas.openxmlformats.org/officeDocument/2006/relationships/notesMaster" Target="/ppt/notesMasters/notesMaster1.xml" Id="Re7d8d350071048e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d70584aa3094a94" /><Relationship Type="http://schemas.openxmlformats.org/officeDocument/2006/relationships/notesMaster" Target="/ppt/notesMasters/notesMaster1.xml" Id="Rce21fa6eabfc451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23d0aeb262a4660" /><Relationship Type="http://schemas.openxmlformats.org/officeDocument/2006/relationships/notesMaster" Target="/ppt/notesMasters/notesMaster1.xml" Id="R622a9daedaf84ae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94354a199c948a7" /><Relationship Type="http://schemas.openxmlformats.org/officeDocument/2006/relationships/notesMaster" Target="/ppt/notesMasters/notesMaster1.xml" Id="R1e7d4e09f26945a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bfb71426e8e4e78" /><Relationship Type="http://schemas.openxmlformats.org/officeDocument/2006/relationships/notesMaster" Target="/ppt/notesMasters/notesMaster1.xml" Id="R223bed20bf1c40a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2e32f78831e401f" /><Relationship Type="http://schemas.openxmlformats.org/officeDocument/2006/relationships/notesMaster" Target="/ppt/notesMasters/notesMaster1.xml" Id="R721c2231f8aa415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6693d9f65844b19" /><Relationship Type="http://schemas.openxmlformats.org/officeDocument/2006/relationships/notesMaster" Target="/ppt/notesMasters/notesMaster1.xml" Id="R82dfe4351617415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ba5ea2f07ab4829" /><Relationship Type="http://schemas.openxmlformats.org/officeDocument/2006/relationships/notesMaster" Target="/ppt/notesMasters/notesMaster1.xml" Id="Ra1d7e69baf53455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8ec7570f4af4077" /><Relationship Type="http://schemas.openxmlformats.org/officeDocument/2006/relationships/notesMaster" Target="/ppt/notesMasters/notesMaster1.xml" Id="R4579ac813847464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9cf30f9bd9f4a72" /><Relationship Type="http://schemas.openxmlformats.org/officeDocument/2006/relationships/notesMaster" Target="/ppt/notesMasters/notesMaster1.xml" Id="Re033f49013d4454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115082a120245b9" /><Relationship Type="http://schemas.openxmlformats.org/officeDocument/2006/relationships/notesMaster" Target="/ppt/notesMasters/notesMaster1.xml" Id="Re755b0fcec64464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525f2f650bd47f3" /><Relationship Type="http://schemas.openxmlformats.org/officeDocument/2006/relationships/notesMaster" Target="/ppt/notesMasters/notesMaster1.xml" Id="R68e8739e237f4b0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6b9fee5343f41e3" /><Relationship Type="http://schemas.openxmlformats.org/officeDocument/2006/relationships/notesMaster" Target="/ppt/notesMasters/notesMaster1.xml" Id="R03256252238a47e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5c7f748190940a3" /><Relationship Type="http://schemas.openxmlformats.org/officeDocument/2006/relationships/notesMaster" Target="/ppt/notesMasters/notesMaster1.xml" Id="R3f38aa7a68f64cd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3657c5cb8184575" /><Relationship Type="http://schemas.openxmlformats.org/officeDocument/2006/relationships/notesMaster" Target="/ppt/notesMasters/notesMaster1.xml" Id="R8761a23655484c4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4d0095e8b954216" /><Relationship Type="http://schemas.openxmlformats.org/officeDocument/2006/relationships/notesMaster" Target="/ppt/notesMasters/notesMaster1.xml" Id="R6d17b4a402e5488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2003ccdaa2d4faa" /><Relationship Type="http://schemas.openxmlformats.org/officeDocument/2006/relationships/notesMaster" Target="/ppt/notesMasters/notesMaster1.xml" Id="R8bf367740e7d4c5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df2efc7e0fa426f" /><Relationship Type="http://schemas.openxmlformats.org/officeDocument/2006/relationships/notesMaster" Target="/ppt/notesMasters/notesMaster1.xml" Id="R43a7c1b17b1b407e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b7c6a3e590314078" /><Relationship Type="http://schemas.openxmlformats.org/officeDocument/2006/relationships/notesMaster" Target="/ppt/notesMasters/notesMaster1.xml" Id="R23a744ef043a42d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7e6f2b722684a43" /><Relationship Type="http://schemas.openxmlformats.org/officeDocument/2006/relationships/notesMaster" Target="/ppt/notesMasters/notesMaster1.xml" Id="Rd5dd40d377dc456a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d794d2d0da454bf8" /><Relationship Type="http://schemas.openxmlformats.org/officeDocument/2006/relationships/notesMaster" Target="/ppt/notesMasters/notesMaster1.xml" Id="R6d34761c17934e5f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e3d69cb482aa441e" /><Relationship Type="http://schemas.openxmlformats.org/officeDocument/2006/relationships/notesMaster" Target="/ppt/notesMasters/notesMaster1.xml" Id="R13c32016586240a3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3ebe0dfa4bf34816" /><Relationship Type="http://schemas.openxmlformats.org/officeDocument/2006/relationships/notesMaster" Target="/ppt/notesMasters/notesMaster1.xml" Id="Rcd2ede250820485d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a45838b959c745a0" /><Relationship Type="http://schemas.openxmlformats.org/officeDocument/2006/relationships/notesMaster" Target="/ppt/notesMasters/notesMaster1.xml" Id="Rd23faf2de0574649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8518d3c89bdf418b" /><Relationship Type="http://schemas.openxmlformats.org/officeDocument/2006/relationships/notesMaster" Target="/ppt/notesMasters/notesMaster1.xml" Id="R104f2bea46af4e06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6b1d2a68af3c49e3" /><Relationship Type="http://schemas.openxmlformats.org/officeDocument/2006/relationships/notesMaster" Target="/ppt/notesMasters/notesMaster1.xml" Id="Re0ae5a3fc8894ebe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48fc00e9e960475f" /><Relationship Type="http://schemas.openxmlformats.org/officeDocument/2006/relationships/notesMaster" Target="/ppt/notesMasters/notesMaster1.xml" Id="R4706584e4e37468d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aea97be012f44a6c" /><Relationship Type="http://schemas.openxmlformats.org/officeDocument/2006/relationships/notesMaster" Target="/ppt/notesMasters/notesMaster1.xml" Id="R01991b7ef60c4a93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cccb13b8a3a94a11" /><Relationship Type="http://schemas.openxmlformats.org/officeDocument/2006/relationships/notesMaster" Target="/ppt/notesMasters/notesMaster1.xml" Id="R46e21b6898ad4229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c4268d6c869d4321" /><Relationship Type="http://schemas.openxmlformats.org/officeDocument/2006/relationships/notesMaster" Target="/ppt/notesMasters/notesMaster1.xml" Id="Rdb5d85487c6e4ccf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1de3e8b6a20a4230" /><Relationship Type="http://schemas.openxmlformats.org/officeDocument/2006/relationships/notesMaster" Target="/ppt/notesMasters/notesMaster1.xml" Id="R612c7e75d2364c17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9807d5fba85548a8" /><Relationship Type="http://schemas.openxmlformats.org/officeDocument/2006/relationships/notesMaster" Target="/ppt/notesMasters/notesMaster1.xml" Id="R82fd508bb2da4294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e05fbf6249274bfd" /><Relationship Type="http://schemas.openxmlformats.org/officeDocument/2006/relationships/notesMaster" Target="/ppt/notesMasters/notesMaster1.xml" Id="R045e9f4365dc4849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39ec127932f74fad" /><Relationship Type="http://schemas.openxmlformats.org/officeDocument/2006/relationships/notesMaster" Target="/ppt/notesMasters/notesMaster1.xml" Id="Re8ce2643340242c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講者操作提示</a:t>
            </a:r>
          </a:p>
          <a:p xmlns:a="http://schemas.openxmlformats.org/drawingml/2006/main">
            <a:r>
              <a:t>開場說明：今天每個人要自己打開檔案、驗證程式。螢幕切換時以頁面底部的檢查點判斷能否繼續。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來源：使用者提供的YTP四份Markdown附件，2026-10-15版本。</a:t>
            </a:r>
          </a:p>
          <a:p xmlns:a="http://schemas.openxmlformats.org/drawingml/2006/main">
            <a:r>
              <a:t>程式來源：https://github.com/ytp26h2/ytp26h2-labs/tree/v1.1/labs/lab10-graduation</a:t>
            </a:r>
          </a:p>
          <a:p xmlns:a="http://schemas.openxmlformats.org/drawingml/2006/main">
            <a:r>
              <a:t>官方教材：https://tw-ytp.github.io/vocabuddy/</a:t>
            </a:r>
          </a:p>
          <a:p xmlns:a="http://schemas.openxmlformats.org/drawingml/2006/main">
            <a:r>
              <a:t>Colab：https://research.google.com/colaboratory/faq.html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講者操作提示</a:t>
            </a:r>
          </a:p>
          <a:p xmlns:a="http://schemas.openxmlformats.org/drawingml/2006/main">
            <a:r>
              <a:t>本次 countDue 是為雙環境操作新增的課堂任務，原 Lab 11–14 的官方要求仍以教材為準。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來源：使用者提供的YTP四份Markdown附件，2026-10-15版本。</a:t>
            </a:r>
          </a:p>
          <a:p xmlns:a="http://schemas.openxmlformats.org/drawingml/2006/main">
            <a:r>
              <a:t>程式來源：https://github.com/ytp26h2/ytp26h2-labs/tree/v1.1/labs/lab10-graduation</a:t>
            </a:r>
          </a:p>
          <a:p xmlns:a="http://schemas.openxmlformats.org/drawingml/2006/main">
            <a:r>
              <a:t>官方教材：https://tw-ytp.github.io/vocabuddy/</a:t>
            </a:r>
          </a:p>
          <a:p xmlns:a="http://schemas.openxmlformats.org/drawingml/2006/main">
            <a:r>
              <a:t>Colab：https://research.google.com/colaboratory/faq.html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講者操作提示</a:t>
            </a:r>
          </a:p>
          <a:p xmlns:a="http://schemas.openxmlformats.org/drawingml/2006/main">
            <a:r>
              <a:t>這是講師可採用的課堂議程，包含兩次十分鐘休息。每個區段保留學生動手時間，切勿把所有頁都連續講完。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來源：使用者提供的YTP四份Markdown附件，2026-10-15版本。</a:t>
            </a:r>
          </a:p>
          <a:p xmlns:a="http://schemas.openxmlformats.org/drawingml/2006/main">
            <a:r>
              <a:t>程式來源：https://github.com/ytp26h2/ytp26h2-labs/tree/v1.1/labs/lab10-graduation</a:t>
            </a:r>
          </a:p>
          <a:p xmlns:a="http://schemas.openxmlformats.org/drawingml/2006/main">
            <a:r>
              <a:t>官方教材：https://tw-ytp.github.io/vocabuddy/</a:t>
            </a:r>
          </a:p>
          <a:p xmlns:a="http://schemas.openxmlformats.org/drawingml/2006/main">
            <a:r>
              <a:t>Colab：https://research.google.com/colaboratory/faq.html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講者操作提示</a:t>
            </a:r>
          </a:p>
          <a:p xmlns:a="http://schemas.openxmlformats.org/drawingml/2006/main">
            <a:r>
              <a:t>不指定付費方案或保證免費額度。AI 工具依既有安裝使用，無工具者可把指定檔案內容貼到可用的 AI 對話中完成同一推理步驟。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來源：使用者提供的YTP四份Markdown附件，2026-10-15版本。</a:t>
            </a:r>
          </a:p>
          <a:p xmlns:a="http://schemas.openxmlformats.org/drawingml/2006/main">
            <a:r>
              <a:t>程式來源：https://github.com/ytp26h2/ytp26h2-labs/tree/v1.1/labs/lab10-graduation</a:t>
            </a:r>
          </a:p>
          <a:p xmlns:a="http://schemas.openxmlformats.org/drawingml/2006/main">
            <a:r>
              <a:t>官方教材：https://tw-ytp.github.io/vocabuddy/</a:t>
            </a:r>
          </a:p>
          <a:p xmlns:a="http://schemas.openxmlformats.org/drawingml/2006/main">
            <a:r>
              <a:t>Colab：https://research.google.com/colaboratory/faq.html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講者操作提示</a:t>
            </a:r>
          </a:p>
          <a:p xmlns:a="http://schemas.openxmlformats.org/drawingml/2006/main">
            <a:r>
              <a:t>來源：四份附件；上游 repo v1.1。不要把參考完成品宣稱為零起點。操作包刻意取先前成果，讓本場集中於第五篇。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來源：使用者提供的YTP四份Markdown附件，2026-10-15版本。</a:t>
            </a:r>
          </a:p>
          <a:p xmlns:a="http://schemas.openxmlformats.org/drawingml/2006/main">
            <a:r>
              <a:t>程式來源：https://github.com/ytp26h2/ytp26h2-labs/tree/v1.1/labs/lab10-graduation</a:t>
            </a:r>
          </a:p>
          <a:p xmlns:a="http://schemas.openxmlformats.org/drawingml/2006/main">
            <a:r>
              <a:t>官方教材：https://tw-ytp.github.io/vocabuddy/</a:t>
            </a:r>
          </a:p>
          <a:p xmlns:a="http://schemas.openxmlformats.org/drawingml/2006/main">
            <a:r>
              <a:t>Colab：https://research.google.com/colaboratory/faq.html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講者操作提示</a:t>
            </a:r>
          </a:p>
          <a:p xmlns:a="http://schemas.openxmlformats.org/drawingml/2006/main">
            <a:r>
              <a:t>Colab 是 Jupyter 執行環境，不保證內建 AI 可以讀整個工作資料夾或自動載入 agent 指示。CPU 足夠。來源：https://research.google.com/colaboratory/faq.html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來源：使用者提供的YTP四份Markdown附件，2026-10-15版本。</a:t>
            </a:r>
          </a:p>
          <a:p xmlns:a="http://schemas.openxmlformats.org/drawingml/2006/main">
            <a:r>
              <a:t>程式來源：https://github.com/ytp26h2/ytp26h2-labs/tree/v1.1/labs/lab10-graduation</a:t>
            </a:r>
          </a:p>
          <a:p xmlns:a="http://schemas.openxmlformats.org/drawingml/2006/main">
            <a:r>
              <a:t>官方教材：https://tw-ytp.github.io/vocabuddy/</a:t>
            </a:r>
          </a:p>
          <a:p xmlns:a="http://schemas.openxmlformats.org/drawingml/2006/main">
            <a:r>
              <a:t>Colab：https://research.google.com/colaboratory/faq.html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講者操作提示</a:t>
            </a:r>
          </a:p>
          <a:p xmlns:a="http://schemas.openxmlformats.org/drawingml/2006/main">
            <a:r>
              <a:t>切到 VS Code 示範。右側是本次操作包的檔案目錄，不是上游根目錄。請學生不要開到 solution。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來源：使用者提供的YTP四份Markdown附件，2026-10-15版本。</a:t>
            </a:r>
          </a:p>
          <a:p xmlns:a="http://schemas.openxmlformats.org/drawingml/2006/main">
            <a:r>
              <a:t>程式來源：https://github.com/ytp26h2/ytp26h2-labs/tree/v1.1/labs/lab10-graduation</a:t>
            </a:r>
          </a:p>
          <a:p xmlns:a="http://schemas.openxmlformats.org/drawingml/2006/main">
            <a:r>
              <a:t>官方教材：https://tw-ytp.github.io/vocabuddy/</a:t>
            </a:r>
          </a:p>
          <a:p xmlns:a="http://schemas.openxmlformats.org/drawingml/2006/main">
            <a:r>
              <a:t>Colab：https://research.google.com/colaboratory/faq.html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講者操作提示</a:t>
            </a:r>
          </a:p>
          <a:p xmlns:a="http://schemas.openxmlformats.org/drawingml/2006/main">
            <a:r>
              <a:t>Git 若要求身分，讓學生使用自己的姓名與 email 設定，不代填講師資訊。這是本機新 repo，不會改動主辦 repo。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來源：使用者提供的YTP四份Markdown附件，2026-10-15版本。</a:t>
            </a:r>
          </a:p>
          <a:p xmlns:a="http://schemas.openxmlformats.org/drawingml/2006/main">
            <a:r>
              <a:t>程式來源：https://github.com/ytp26h2/ytp26h2-labs/tree/v1.1/labs/lab10-graduation</a:t>
            </a:r>
          </a:p>
          <a:p xmlns:a="http://schemas.openxmlformats.org/drawingml/2006/main">
            <a:r>
              <a:t>官方教材：https://tw-ytp.github.io/vocabuddy/</a:t>
            </a:r>
          </a:p>
          <a:p xmlns:a="http://schemas.openxmlformats.org/drawingml/2006/main">
            <a:r>
              <a:t>Colab：https://research.google.com/colaboratory/faq.html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講者操作提示</a:t>
            </a:r>
          </a:p>
          <a:p xmlns:a="http://schemas.openxmlformats.org/drawingml/2006/main">
            <a:r>
              <a:t>操作包 pinned v1.1 的 words.js 為18字。若學員用自己的專案，字數應由檔案量測，不能硬套18。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來源：使用者提供的YTP四份Markdown附件，2026-10-15版本。</a:t>
            </a:r>
          </a:p>
          <a:p xmlns:a="http://schemas.openxmlformats.org/drawingml/2006/main">
            <a:r>
              <a:t>程式來源：https://github.com/ytp26h2/ytp26h2-labs/tree/v1.1/labs/lab10-graduation</a:t>
            </a:r>
          </a:p>
          <a:p xmlns:a="http://schemas.openxmlformats.org/drawingml/2006/main">
            <a:r>
              <a:t>官方教材：https://tw-ytp.github.io/vocabuddy/</a:t>
            </a:r>
          </a:p>
          <a:p xmlns:a="http://schemas.openxmlformats.org/drawingml/2006/main">
            <a:r>
              <a:t>Colab：https://research.google.com/colaboratory/faq.html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講者操作提示</a:t>
            </a:r>
          </a:p>
          <a:p xmlns:a="http://schemas.openxmlformats.org/drawingml/2006/main">
            <a:r>
              <a:t>HTTP 給 service worker 正常的本機環境。今天不操作上游的 AI 例句與考我弱點，避免 API key 與特定模型的依賴。另開終端機跑後續命令，伺服器原視窗保留。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來源：使用者提供的YTP四份Markdown附件，2026-10-15版本。</a:t>
            </a:r>
          </a:p>
          <a:p xmlns:a="http://schemas.openxmlformats.org/drawingml/2006/main">
            <a:r>
              <a:t>程式來源：https://github.com/ytp26h2/ytp26h2-labs/tree/v1.1/labs/lab10-graduation</a:t>
            </a:r>
          </a:p>
          <a:p xmlns:a="http://schemas.openxmlformats.org/drawingml/2006/main">
            <a:r>
              <a:t>官方教材：https://tw-ytp.github.io/vocabuddy/</a:t>
            </a:r>
          </a:p>
          <a:p xmlns:a="http://schemas.openxmlformats.org/drawingml/2006/main">
            <a:r>
              <a:t>Colab：https://research.google.com/colaboratory/faq.html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講者操作提示</a:t>
            </a:r>
          </a:p>
          <a:p xmlns:a="http://schemas.openxmlformats.org/drawingml/2006/main">
            <a:r>
              <a:t>本次起點是18字，修改後應21字。不能用工具自述「我看到了」作為讀檔證據。聊天工具使用者要手動提供檔案。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來源：使用者提供的YTP四份Markdown附件，2026-10-15版本。</a:t>
            </a:r>
          </a:p>
          <a:p xmlns:a="http://schemas.openxmlformats.org/drawingml/2006/main">
            <a:r>
              <a:t>程式來源：https://github.com/ytp26h2/ytp26h2-labs/tree/v1.1/labs/lab10-graduation</a:t>
            </a:r>
          </a:p>
          <a:p xmlns:a="http://schemas.openxmlformats.org/drawingml/2006/main">
            <a:r>
              <a:t>官方教材：https://tw-ytp.github.io/vocabuddy/</a:t>
            </a:r>
          </a:p>
          <a:p xmlns:a="http://schemas.openxmlformats.org/drawingml/2006/main">
            <a:r>
              <a:t>Colab：https://research.google.com/colaboratory/faq.html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講者操作提示</a:t>
            </a:r>
          </a:p>
          <a:p xmlns:a="http://schemas.openxmlformats.org/drawingml/2006/main">
            <a:r>
              <a:t>貼 PROMPTS.md 的 map。請一位同學說明自己會先開哪個檔案，然後再比較 AI 地圖。來源：5.6 操作腳本三輪提問。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來源：使用者提供的YTP四份Markdown附件，2026-10-15版本。</a:t>
            </a:r>
          </a:p>
          <a:p xmlns:a="http://schemas.openxmlformats.org/drawingml/2006/main">
            <a:r>
              <a:t>程式來源：https://github.com/ytp26h2/ytp26h2-labs/tree/v1.1/labs/lab10-graduation</a:t>
            </a:r>
          </a:p>
          <a:p xmlns:a="http://schemas.openxmlformats.org/drawingml/2006/main">
            <a:r>
              <a:t>官方教材：https://tw-ytp.github.io/vocabuddy/</a:t>
            </a:r>
          </a:p>
          <a:p xmlns:a="http://schemas.openxmlformats.org/drawingml/2006/main">
            <a:r>
              <a:t>Colab：https://research.google.com/colaboratory/faq.html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講者操作提示</a:t>
            </a:r>
          </a:p>
          <a:p xmlns:a="http://schemas.openxmlformats.org/drawingml/2006/main">
            <a:r>
              <a:t>實際順序：stateOf(cur)；seen/wrong；schedule；寫回 box/due；save；queue.shift 或輪轉；next。抽驗時用 Ctrl+G 跳行。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來源：使用者提供的YTP四份Markdown附件，2026-10-15版本。</a:t>
            </a:r>
          </a:p>
          <a:p xmlns:a="http://schemas.openxmlformats.org/drawingml/2006/main">
            <a:r>
              <a:t>程式來源：https://github.com/ytp26h2/ytp26h2-labs/tree/v1.1/labs/lab10-graduation</a:t>
            </a:r>
          </a:p>
          <a:p xmlns:a="http://schemas.openxmlformats.org/drawingml/2006/main">
            <a:r>
              <a:t>官方教材：https://tw-ytp.github.io/vocabuddy/</a:t>
            </a:r>
          </a:p>
          <a:p xmlns:a="http://schemas.openxmlformats.org/drawingml/2006/main">
            <a:r>
              <a:t>Colab：https://research.google.com/colaboratory/faq.html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講者操作提示</a:t>
            </a:r>
          </a:p>
          <a:p xmlns:a="http://schemas.openxmlformats.org/drawingml/2006/main">
            <a:r>
              <a:t>today 是 epoch day 加 dayOffset，不是毫秒時間戳。test_srs.js 直接傳100，schedule(1,true,100) 得到 box2 due102。設計意圖屬推論，應明說。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來源：使用者提供的YTP四份Markdown附件，2026-10-15版本。</a:t>
            </a:r>
          </a:p>
          <a:p xmlns:a="http://schemas.openxmlformats.org/drawingml/2006/main">
            <a:r>
              <a:t>程式來源：https://github.com/ytp26h2/ytp26h2-labs/tree/v1.1/labs/lab10-graduation</a:t>
            </a:r>
          </a:p>
          <a:p xmlns:a="http://schemas.openxmlformats.org/drawingml/2006/main">
            <a:r>
              <a:t>官方教材：https://tw-ytp.github.io/vocabuddy/</a:t>
            </a:r>
          </a:p>
          <a:p xmlns:a="http://schemas.openxmlformats.org/drawingml/2006/main">
            <a:r>
              <a:t>Colab：https://research.google.com/colaboratory/faq.html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講者操作提示</a:t>
            </a:r>
          </a:p>
          <a:p xmlns:a="http://schemas.openxmlformats.org/drawingml/2006/main">
            <a:r>
              <a:t>不要把「抽幾條對了」講成整份答案必然正確。若現場都答對，可用列出的假設句當辨識練習，清楚標為教師設計的錯誤例句。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來源：使用者提供的YTP四份Markdown附件，2026-10-15版本。</a:t>
            </a:r>
          </a:p>
          <a:p xmlns:a="http://schemas.openxmlformats.org/drawingml/2006/main">
            <a:r>
              <a:t>程式來源：https://github.com/ytp26h2/ytp26h2-labs/tree/v1.1/labs/lab10-graduation</a:t>
            </a:r>
          </a:p>
          <a:p xmlns:a="http://schemas.openxmlformats.org/drawingml/2006/main">
            <a:r>
              <a:t>官方教材：https://tw-ytp.github.io/vocabuddy/</a:t>
            </a:r>
          </a:p>
          <a:p xmlns:a="http://schemas.openxmlformats.org/drawingml/2006/main">
            <a:r>
              <a:t>Colab：https://research.google.com/colaboratory/faq.html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講者操作提示</a:t>
            </a:r>
          </a:p>
          <a:p xmlns:a="http://schemas.openxmlformats.org/drawingml/2006/main">
            <a:r>
              <a:t>PROJECT_RULES.md 是通用閱讀材料，不宣稱任一工具自動讀它。Claude Code 可依官方格式使用 CLAUDE.md，其他工具先確認自己的官方指示檔機制。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來源：使用者提供的YTP四份Markdown附件，2026-10-15版本。</a:t>
            </a:r>
          </a:p>
          <a:p xmlns:a="http://schemas.openxmlformats.org/drawingml/2006/main">
            <a:r>
              <a:t>程式來源：https://github.com/ytp26h2/ytp26h2-labs/tree/v1.1/labs/lab10-graduation</a:t>
            </a:r>
          </a:p>
          <a:p xmlns:a="http://schemas.openxmlformats.org/drawingml/2006/main">
            <a:r>
              <a:t>官方教材：https://tw-ytp.github.io/vocabuddy/</a:t>
            </a:r>
          </a:p>
          <a:p xmlns:a="http://schemas.openxmlformats.org/drawingml/2006/main">
            <a:r>
              <a:t>Colab：https://research.google.com/colaboratory/faq.html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講者操作提示</a:t>
            </a:r>
          </a:p>
          <a:p xmlns:a="http://schemas.openxmlformats.org/drawingml/2006/main">
            <a:r>
              <a:t>正式修改留到後段。指示檔需確定載入，可明確要求讀 PROJECT_RULES.md 作為通用 fallback。上游 v1.1 與 lab12-done 不只差指示檔，不宜當單一變因的嚴格實驗。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來源：使用者提供的YTP四份Markdown附件，2026-10-15版本。</a:t>
            </a:r>
          </a:p>
          <a:p xmlns:a="http://schemas.openxmlformats.org/drawingml/2006/main">
            <a:r>
              <a:t>程式來源：https://github.com/ytp26h2/ytp26h2-labs/tree/v1.1/labs/lab10-graduation</a:t>
            </a:r>
          </a:p>
          <a:p xmlns:a="http://schemas.openxmlformats.org/drawingml/2006/main">
            <a:r>
              <a:t>官方教材：https://tw-ytp.github.io/vocabuddy/</a:t>
            </a:r>
          </a:p>
          <a:p xmlns:a="http://schemas.openxmlformats.org/drawingml/2006/main">
            <a:r>
              <a:t>Colab：https://research.google.com/colaboratory/faq.html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講者操作提示</a:t>
            </a:r>
          </a:p>
          <a:p xmlns:a="http://schemas.openxmlformats.org/drawingml/2006/main">
            <a:r>
              <a:t>給學生8分鐘自己做。先確認作用中工作目錄是 starter，再執行 prompt。若同學使用自有專案，改成原字數加實際未存在的數量。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來源：使用者提供的YTP四份Markdown附件，2026-10-15版本。</a:t>
            </a:r>
          </a:p>
          <a:p xmlns:a="http://schemas.openxmlformats.org/drawingml/2006/main">
            <a:r>
              <a:t>程式來源：https://github.com/ytp26h2/ytp26h2-labs/tree/v1.1/labs/lab10-graduation</a:t>
            </a:r>
          </a:p>
          <a:p xmlns:a="http://schemas.openxmlformats.org/drawingml/2006/main">
            <a:r>
              <a:t>官方教材：https://tw-ytp.github.io/vocabuddy/</a:t>
            </a:r>
          </a:p>
          <a:p xmlns:a="http://schemas.openxmlformats.org/drawingml/2006/main">
            <a:r>
              <a:t>Colab：https://research.google.com/colaboratory/faq.html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講者操作提示</a:t>
            </a:r>
          </a:p>
          <a:p xmlns:a="http://schemas.openxmlformats.org/drawingml/2006/main">
            <a:r>
              <a:t>畫面可能受 localStorage 與 service worker 舊快取影響。新單字不一定立即出現在第一張卡，驗證資料以words檔與檢查器為準。全新瀏覽器環境可隔離舊紀錄。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來源：使用者提供的YTP四份Markdown附件，2026-10-15版本。</a:t>
            </a:r>
          </a:p>
          <a:p xmlns:a="http://schemas.openxmlformats.org/drawingml/2006/main">
            <a:r>
              <a:t>程式來源：https://github.com/ytp26h2/ytp26h2-labs/tree/v1.1/labs/lab10-graduation</a:t>
            </a:r>
          </a:p>
          <a:p xmlns:a="http://schemas.openxmlformats.org/drawingml/2006/main">
            <a:r>
              <a:t>官方教材：https://tw-ytp.github.io/vocabuddy/</a:t>
            </a:r>
          </a:p>
          <a:p xmlns:a="http://schemas.openxmlformats.org/drawingml/2006/main">
            <a:r>
              <a:t>Colab：https://research.google.com/colaboratory/faq.html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講者操作提示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來源：使用者提供的YTP四份Markdown附件，2026-10-15版本。</a:t>
            </a:r>
          </a:p>
          <a:p xmlns:a="http://schemas.openxmlformats.org/drawingml/2006/main">
            <a:r>
              <a:t>程式來源：https://github.com/ytp26h2/ytp26h2-labs/tree/v1.1/labs/lab10-graduation</a:t>
            </a:r>
          </a:p>
          <a:p xmlns:a="http://schemas.openxmlformats.org/drawingml/2006/main">
            <a:r>
              <a:t>官方教材：https://tw-ytp.github.io/vocabuddy/</a:t>
            </a:r>
          </a:p>
          <a:p xmlns:a="http://schemas.openxmlformats.org/drawingml/2006/main">
            <a:r>
              <a:t>Colab：https://research.google.com/colaboratory/faq.html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講者操作提示</a:t>
            </a:r>
          </a:p>
          <a:p xmlns:a="http://schemas.openxmlformats.org/drawingml/2006/main">
            <a:r>
              <a:t>這是課堂新增函式，不是原有 App API。states 是已存在的學習紀錄清單，不表示整份 WORDS 或現行 queue 長度。輸入不合法的政策本堂不納入，避免擴張範圍。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來源：使用者提供的YTP四份Markdown附件，2026-10-15版本。</a:t>
            </a:r>
          </a:p>
          <a:p xmlns:a="http://schemas.openxmlformats.org/drawingml/2006/main">
            <a:r>
              <a:t>程式來源：https://github.com/ytp26h2/ytp26h2-labs/tree/v1.1/labs/lab10-graduation</a:t>
            </a:r>
          </a:p>
          <a:p xmlns:a="http://schemas.openxmlformats.org/drawingml/2006/main">
            <a:r>
              <a:t>官方教材：https://tw-ytp.github.io/vocabuddy/</a:t>
            </a:r>
          </a:p>
          <a:p xmlns:a="http://schemas.openxmlformats.org/drawingml/2006/main">
            <a:r>
              <a:t>Colab：https://research.google.com/colaboratory/faq.html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講者操作提示</a:t>
            </a:r>
          </a:p>
          <a:p xmlns:a="http://schemas.openxmlformats.org/drawingml/2006/main">
            <a:r>
              <a:t>貼PROMPTS.md完整count提示詞。給學生5分鐘看計畫，確認沒有額外改CSV、UI或API，再回覆執行。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來源：使用者提供的YTP四份Markdown附件，2026-10-15版本。</a:t>
            </a:r>
          </a:p>
          <a:p xmlns:a="http://schemas.openxmlformats.org/drawingml/2006/main">
            <a:r>
              <a:t>程式來源：https://github.com/ytp26h2/ytp26h2-labs/tree/v1.1/labs/lab10-graduation</a:t>
            </a:r>
          </a:p>
          <a:p xmlns:a="http://schemas.openxmlformats.org/drawingml/2006/main">
            <a:r>
              <a:t>官方教材：https://tw-ytp.github.io/vocabuddy/</a:t>
            </a:r>
          </a:p>
          <a:p xmlns:a="http://schemas.openxmlformats.org/drawingml/2006/main">
            <a:r>
              <a:t>Colab：https://research.google.com/colaboratory/faq.html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講者操作提示</a:t>
            </a:r>
          </a:p>
          <a:p xmlns:a="http://schemas.openxmlformats.org/drawingml/2006/main">
            <a:r>
              <a:t>測試需獨立判斷需求，不能只把AI實作抄成測試。也可先做只有&lt;的錯誤版本，觀察今天到期的測試失敗。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來源：使用者提供的YTP四份Markdown附件，2026-10-15版本。</a:t>
            </a:r>
          </a:p>
          <a:p xmlns:a="http://schemas.openxmlformats.org/drawingml/2006/main">
            <a:r>
              <a:t>程式來源：https://github.com/ytp26h2/ytp26h2-labs/tree/v1.1/labs/lab10-graduation</a:t>
            </a:r>
          </a:p>
          <a:p xmlns:a="http://schemas.openxmlformats.org/drawingml/2006/main">
            <a:r>
              <a:t>官方教材：https://tw-ytp.github.io/vocabuddy/</a:t>
            </a:r>
          </a:p>
          <a:p xmlns:a="http://schemas.openxmlformats.org/drawingml/2006/main">
            <a:r>
              <a:t>Colab：https://research.google.com/colaboratory/faq.html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講者操作提示</a:t>
            </a:r>
          </a:p>
          <a:p xmlns:a="http://schemas.openxmlformats.org/drawingml/2006/main">
            <a:r>
              <a:t>將操作包根目錄e2_contract.js複製到app，再執行node e2_contract.js。此獨立合約測試不屬原始上游。給學生10分鐘修改並測試。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來源：使用者提供的YTP四份Markdown附件，2026-10-15版本。</a:t>
            </a:r>
          </a:p>
          <a:p xmlns:a="http://schemas.openxmlformats.org/drawingml/2006/main">
            <a:r>
              <a:t>程式來源：https://github.com/ytp26h2/ytp26h2-labs/tree/v1.1/labs/lab10-graduation</a:t>
            </a:r>
          </a:p>
          <a:p xmlns:a="http://schemas.openxmlformats.org/drawingml/2006/main">
            <a:r>
              <a:t>官方教材：https://tw-ytp.github.io/vocabuddy/</a:t>
            </a:r>
          </a:p>
          <a:p xmlns:a="http://schemas.openxmlformats.org/drawingml/2006/main">
            <a:r>
              <a:t>Colab：https://research.google.com/colaboratory/faq.html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講者操作提示</a:t>
            </a:r>
          </a:p>
          <a:p xmlns:a="http://schemas.openxmlformats.org/drawingml/2006/main">
            <a:r>
              <a:t>git add長行可直接複製PROMPTS附帶README命令。全程不要git add .，以免意外把其他產物加入。git diff --cached才包含新測試。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來源：使用者提供的YTP四份Markdown附件，2026-10-15版本。</a:t>
            </a:r>
          </a:p>
          <a:p xmlns:a="http://schemas.openxmlformats.org/drawingml/2006/main">
            <a:r>
              <a:t>程式來源：https://github.com/ytp26h2/ytp26h2-labs/tree/v1.1/labs/lab10-graduation</a:t>
            </a:r>
          </a:p>
          <a:p xmlns:a="http://schemas.openxmlformats.org/drawingml/2006/main">
            <a:r>
              <a:t>官方教材：https://tw-ytp.github.io/vocabuddy/</a:t>
            </a:r>
          </a:p>
          <a:p xmlns:a="http://schemas.openxmlformats.org/drawingml/2006/main">
            <a:r>
              <a:t>Colab：https://research.google.com/colaboratory/faq.html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講者操作提示</a:t>
            </a:r>
          </a:p>
          <a:p xmlns:a="http://schemas.openxmlformats.org/drawingml/2006/main">
            <a:r>
              <a:t>Colab按鈕名稱可能依介面語言變化，使用上傳ipynb與保存副本功能即可。來源：Google Colab FAQ。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來源：使用者提供的YTP四份Markdown附件，2026-10-15版本。</a:t>
            </a:r>
          </a:p>
          <a:p xmlns:a="http://schemas.openxmlformats.org/drawingml/2006/main">
            <a:r>
              <a:t>程式來源：https://github.com/ytp26h2/ytp26h2-labs/tree/v1.1/labs/lab10-graduation</a:t>
            </a:r>
          </a:p>
          <a:p xmlns:a="http://schemas.openxmlformats.org/drawingml/2006/main">
            <a:r>
              <a:t>官方教材：https://tw-ytp.github.io/vocabuddy/</a:t>
            </a:r>
          </a:p>
          <a:p xmlns:a="http://schemas.openxmlformats.org/drawingml/2006/main">
            <a:r>
              <a:t>Colab：https://research.google.com/colaboratory/faq.html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講者操作提示</a:t>
            </a:r>
          </a:p>
          <a:p xmlns:a="http://schemas.openxmlformats.org/drawingml/2006/main">
            <a:r>
              <a:t>所有程式儲存格都已放在配套notebook中，不需從投影片抄base64。離開VM前要下載成果，保存notebook不等於保存VM檔案。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來源：使用者提供的YTP四份Markdown附件，2026-10-15版本。</a:t>
            </a:r>
          </a:p>
          <a:p xmlns:a="http://schemas.openxmlformats.org/drawingml/2006/main">
            <a:r>
              <a:t>程式來源：https://github.com/ytp26h2/ytp26h2-labs/tree/v1.1/labs/lab10-graduation</a:t>
            </a:r>
          </a:p>
          <a:p xmlns:a="http://schemas.openxmlformats.org/drawingml/2006/main">
            <a:r>
              <a:t>官方教材：https://tw-ytp.github.io/vocabuddy/</a:t>
            </a:r>
          </a:p>
          <a:p xmlns:a="http://schemas.openxmlformats.org/drawingml/2006/main">
            <a:r>
              <a:t>Colab：https://research.google.com/colaboratory/faq.html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講者操作提示</a:t>
            </a:r>
          </a:p>
          <a:p xmlns:a="http://schemas.openxmlformats.org/drawingml/2006/main">
            <a:r>
              <a:t>這一段使用Python呼叫Node，沒有把JavaScript邏輯改寫成Python。CPU即可，不需呼叫付費模型。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來源：使用者提供的YTP四份Markdown附件，2026-10-15版本。</a:t>
            </a:r>
          </a:p>
          <a:p xmlns:a="http://schemas.openxmlformats.org/drawingml/2006/main">
            <a:r>
              <a:t>程式來源：https://github.com/ytp26h2/ytp26h2-labs/tree/v1.1/labs/lab10-graduation</a:t>
            </a:r>
          </a:p>
          <a:p xmlns:a="http://schemas.openxmlformats.org/drawingml/2006/main">
            <a:r>
              <a:t>官方教材：https://tw-ytp.github.io/vocabuddy/</a:t>
            </a:r>
          </a:p>
          <a:p xmlns:a="http://schemas.openxmlformats.org/drawingml/2006/main">
            <a:r>
              <a:t>Colab：https://research.google.com/colaboratory/faq.html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講者操作提示</a:t>
            </a:r>
          </a:p>
          <a:p xmlns:a="http://schemas.openxmlformats.org/drawingml/2006/main">
            <a:r>
              <a:t>不要宣稱在Colab貼一個GitHub網址就代表AI看過repo。若用內建AI，仍以能否引用當前檔案作為證據。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來源：使用者提供的YTP四份Markdown附件，2026-10-15版本。</a:t>
            </a:r>
          </a:p>
          <a:p xmlns:a="http://schemas.openxmlformats.org/drawingml/2006/main">
            <a:r>
              <a:t>程式來源：https://github.com/ytp26h2/ytp26h2-labs/tree/v1.1/labs/lab10-graduation</a:t>
            </a:r>
          </a:p>
          <a:p xmlns:a="http://schemas.openxmlformats.org/drawingml/2006/main">
            <a:r>
              <a:t>官方教材：https://tw-ytp.github.io/vocabuddy/</a:t>
            </a:r>
          </a:p>
          <a:p xmlns:a="http://schemas.openxmlformats.org/drawingml/2006/main">
            <a:r>
              <a:t>Colab：https://research.google.com/colaboratory/faq.html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講者操作提示</a:t>
            </a:r>
          </a:p>
          <a:p xmlns:a="http://schemas.openxmlformats.org/drawingml/2006/main">
            <a:r>
              <a:t>筆記本的預設占位字串會主動assert停止，防止把占位文字誤當JavaScript。提醒移除Markdown圍欄。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來源：使用者提供的YTP四份Markdown附件，2026-10-15版本。</a:t>
            </a:r>
          </a:p>
          <a:p xmlns:a="http://schemas.openxmlformats.org/drawingml/2006/main">
            <a:r>
              <a:t>程式來源：https://github.com/ytp26h2/ytp26h2-labs/tree/v1.1/labs/lab10-graduation</a:t>
            </a:r>
          </a:p>
          <a:p xmlns:a="http://schemas.openxmlformats.org/drawingml/2006/main">
            <a:r>
              <a:t>官方教材：https://tw-ytp.github.io/vocabuddy/</a:t>
            </a:r>
          </a:p>
          <a:p xmlns:a="http://schemas.openxmlformats.org/drawingml/2006/main">
            <a:r>
              <a:t>Colab：https://research.google.com/colaboratory/faq.html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講者操作提示</a:t>
            </a:r>
          </a:p>
          <a:p xmlns:a="http://schemas.openxmlformats.org/drawingml/2006/main">
            <a:r>
              <a:t>給學生15分鐘。請先自行寫預期值，再貼AI結果。與VSCode不同程式寫法也可以，只要符合相同合約。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來源：使用者提供的YTP四份Markdown附件，2026-10-15版本。</a:t>
            </a:r>
          </a:p>
          <a:p xmlns:a="http://schemas.openxmlformats.org/drawingml/2006/main">
            <a:r>
              <a:t>程式來源：https://github.com/ytp26h2/ytp26h2-labs/tree/v1.1/labs/lab10-graduation</a:t>
            </a:r>
          </a:p>
          <a:p xmlns:a="http://schemas.openxmlformats.org/drawingml/2006/main">
            <a:r>
              <a:t>官方教材：https://tw-ytp.github.io/vocabuddy/</a:t>
            </a:r>
          </a:p>
          <a:p xmlns:a="http://schemas.openxmlformats.org/drawingml/2006/main">
            <a:r>
              <a:t>Colab：https://research.google.com/colaboratory/faq.html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講者操作提示</a:t>
            </a:r>
          </a:p>
          <a:p xmlns:a="http://schemas.openxmlformats.org/drawingml/2006/main">
            <a:r>
              <a:t>Colab不在本堂啟動公開server、遠端VSCode或託管服務。Notebook重現檔案修改與Node測試，UI/PWA/localStorage回本機做。來源：Google Colab FAQ。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來源：使用者提供的YTP四份Markdown附件，2026-10-15版本。</a:t>
            </a:r>
          </a:p>
          <a:p xmlns:a="http://schemas.openxmlformats.org/drawingml/2006/main">
            <a:r>
              <a:t>程式來源：https://github.com/ytp26h2/ytp26h2-labs/tree/v1.1/labs/lab10-graduation</a:t>
            </a:r>
          </a:p>
          <a:p xmlns:a="http://schemas.openxmlformats.org/drawingml/2006/main">
            <a:r>
              <a:t>官方教材：https://tw-ytp.github.io/vocabuddy/</a:t>
            </a:r>
          </a:p>
          <a:p xmlns:a="http://schemas.openxmlformats.org/drawingml/2006/main">
            <a:r>
              <a:t>Colab：https://research.google.com/colaboratory/faq.html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講者操作提示</a:t>
            </a:r>
          </a:p>
          <a:p xmlns:a="http://schemas.openxmlformats.org/drawingml/2006/main">
            <a:r>
              <a:t>請兩組各用1分鐘說明一個差異。不要把Colab測試全綠當成PWA或瀏覽器行為全部驗收。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來源：使用者提供的YTP四份Markdown附件，2026-10-15版本。</a:t>
            </a:r>
          </a:p>
          <a:p xmlns:a="http://schemas.openxmlformats.org/drawingml/2006/main">
            <a:r>
              <a:t>程式來源：https://github.com/ytp26h2/ytp26h2-labs/tree/v1.1/labs/lab10-graduation</a:t>
            </a:r>
          </a:p>
          <a:p xmlns:a="http://schemas.openxmlformats.org/drawingml/2006/main">
            <a:r>
              <a:t>官方教材：https://tw-ytp.github.io/vocabuddy/</a:t>
            </a:r>
          </a:p>
          <a:p xmlns:a="http://schemas.openxmlformats.org/drawingml/2006/main">
            <a:r>
              <a:t>Colab：https://research.google.com/colaboratory/faq.html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講者操作提示</a:t>
            </a:r>
          </a:p>
          <a:p xmlns:a="http://schemas.openxmlformats.org/drawingml/2006/main">
            <a:r>
              <a:t>這是技能的概念與課堂演練。實際技能格式與路徑依所用工具官方文件，不將普通Markdown宣稱為所有工具會自動觸發的技能。來源：附件與Lab13 README。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來源：使用者提供的YTP四份Markdown附件，2026-10-15版本。</a:t>
            </a:r>
          </a:p>
          <a:p xmlns:a="http://schemas.openxmlformats.org/drawingml/2006/main">
            <a:r>
              <a:t>程式來源：https://github.com/ytp26h2/ytp26h2-labs/tree/v1.1/labs/lab10-graduation</a:t>
            </a:r>
          </a:p>
          <a:p xmlns:a="http://schemas.openxmlformats.org/drawingml/2006/main">
            <a:r>
              <a:t>官方教材：https://tw-ytp.github.io/vocabuddy/</a:t>
            </a:r>
          </a:p>
          <a:p xmlns:a="http://schemas.openxmlformats.org/drawingml/2006/main">
            <a:r>
              <a:t>Colab：https://research.google.com/colaboratory/faq.html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講者操作提示</a:t>
            </a:r>
          </a:p>
          <a:p xmlns:a="http://schemas.openxmlformats.org/drawingml/2006/main">
            <a:r>
              <a:t>自動載入、觸發、工具權限等功能依工具而異。Colab可把規則與流程明確放入提示詞，這叫手動套用，不等同於已建立原生代理技能。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來源：使用者提供的YTP四份Markdown附件，2026-10-15版本。</a:t>
            </a:r>
          </a:p>
          <a:p xmlns:a="http://schemas.openxmlformats.org/drawingml/2006/main">
            <a:r>
              <a:t>程式來源：https://github.com/ytp26h2/ytp26h2-labs/tree/v1.1/labs/lab10-graduation</a:t>
            </a:r>
          </a:p>
          <a:p xmlns:a="http://schemas.openxmlformats.org/drawingml/2006/main">
            <a:r>
              <a:t>官方教材：https://tw-ytp.github.io/vocabuddy/</a:t>
            </a:r>
          </a:p>
          <a:p xmlns:a="http://schemas.openxmlformats.org/drawingml/2006/main">
            <a:r>
              <a:t>Colab：https://research.google.com/colaboratory/faq.html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講者操作提示</a:t>
            </a:r>
          </a:p>
          <a:p xmlns:a="http://schemas.openxmlformats.org/drawingml/2006/main">
            <a:r>
              <a:t>依附檔Lab14經驗，唯讀子代理未必有執行git diff的工具，因此由主對話先取得。新對話是教學替代方案，不能說成真正啟動了子代理。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來源：使用者提供的YTP四份Markdown附件，2026-10-15版本。</a:t>
            </a:r>
          </a:p>
          <a:p xmlns:a="http://schemas.openxmlformats.org/drawingml/2006/main">
            <a:r>
              <a:t>程式來源：https://github.com/ytp26h2/ytp26h2-labs/tree/v1.1/labs/lab10-graduation</a:t>
            </a:r>
          </a:p>
          <a:p xmlns:a="http://schemas.openxmlformats.org/drawingml/2006/main">
            <a:r>
              <a:t>官方教材：https://tw-ytp.github.io/vocabuddy/</a:t>
            </a:r>
          </a:p>
          <a:p xmlns:a="http://schemas.openxmlformats.org/drawingml/2006/main">
            <a:r>
              <a:t>Colab：https://research.google.com/colaboratory/faq.html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講者操作提示</a:t>
            </a:r>
          </a:p>
          <a:p xmlns:a="http://schemas.openxmlformats.org/drawingml/2006/main">
            <a:r>
              <a:t>右側是教師設計的辨識練習，不是假稱現場AI已產生此誤報。若沒有問題，誠實記錄，不為填四格而捏造。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來源：使用者提供的YTP四份Markdown附件，2026-10-15版本。</a:t>
            </a:r>
          </a:p>
          <a:p xmlns:a="http://schemas.openxmlformats.org/drawingml/2006/main">
            <a:r>
              <a:t>程式來源：https://github.com/ytp26h2/ytp26h2-labs/tree/v1.1/labs/lab10-graduation</a:t>
            </a:r>
          </a:p>
          <a:p xmlns:a="http://schemas.openxmlformats.org/drawingml/2006/main">
            <a:r>
              <a:t>官方教材：https://tw-ytp.github.io/vocabuddy/</a:t>
            </a:r>
          </a:p>
          <a:p xmlns:a="http://schemas.openxmlformats.org/drawingml/2006/main">
            <a:r>
              <a:t>Colab：https://research.google.com/colaboratory/faq.html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講者操作提示</a:t>
            </a:r>
          </a:p>
          <a:p xmlns:a="http://schemas.openxmlformats.org/drawingml/2006/main">
            <a:r>
              <a:t>這是授課建議，不擅自替主辦設定公告期限。預留每組簡短展示，若組數多可選2組示範，其餘課後錄影。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來源：使用者提供的YTP四份Markdown附件，2026-10-15版本。</a:t>
            </a:r>
          </a:p>
          <a:p xmlns:a="http://schemas.openxmlformats.org/drawingml/2006/main">
            <a:r>
              <a:t>程式來源：https://github.com/ytp26h2/ytp26h2-labs/tree/v1.1/labs/lab10-graduation</a:t>
            </a:r>
          </a:p>
          <a:p xmlns:a="http://schemas.openxmlformats.org/drawingml/2006/main">
            <a:r>
              <a:t>官方教材：https://tw-ytp.github.io/vocabuddy/</a:t>
            </a:r>
          </a:p>
          <a:p xmlns:a="http://schemas.openxmlformats.org/drawingml/2006/main">
            <a:r>
              <a:t>Colab：https://research.google.com/colaboratory/faq.html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講者操作提示</a:t>
            </a:r>
          </a:p>
          <a:p xmlns:a="http://schemas.openxmlformats.org/drawingml/2006/main">
            <a:r>
              <a:t>助教先看哪一格/哪個命令失敗，不替學生整段輸入。若已暫存要用git diff --cached，另注意伺服器終端機正在佔用。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來源：使用者提供的YTP四份Markdown附件，2026-10-15版本。</a:t>
            </a:r>
          </a:p>
          <a:p xmlns:a="http://schemas.openxmlformats.org/drawingml/2006/main">
            <a:r>
              <a:t>程式來源：https://github.com/ytp26h2/ytp26h2-labs/tree/v1.1/labs/lab10-graduation</a:t>
            </a:r>
          </a:p>
          <a:p xmlns:a="http://schemas.openxmlformats.org/drawingml/2006/main">
            <a:r>
              <a:t>官方教材：https://tw-ytp.github.io/vocabuddy/</a:t>
            </a:r>
          </a:p>
          <a:p xmlns:a="http://schemas.openxmlformats.org/drawingml/2006/main">
            <a:r>
              <a:t>Colab：https://research.google.com/colaboratory/faq.html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講者操作提示</a:t>
            </a:r>
          </a:p>
          <a:p xmlns:a="http://schemas.openxmlformats.org/drawingml/2006/main">
            <a:r>
              <a:t>更正畫面中的repo名稱應為ytp26h2-labs。本地已驗證程式與Node測試，登入後的VSCode AI工具及Colab執行配額仍須授課帳號課前實測。不要把本包純函式測試說成完整平台實跑。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來源：使用者提供的YTP四份Markdown附件，2026-10-15版本。</a:t>
            </a:r>
          </a:p>
          <a:p xmlns:a="http://schemas.openxmlformats.org/drawingml/2006/main">
            <a:r>
              <a:t>程式來源：https://github.com/ytp26h2/ytp26h2-labs/tree/v1.1/labs/lab10-graduation</a:t>
            </a:r>
          </a:p>
          <a:p xmlns:a="http://schemas.openxmlformats.org/drawingml/2006/main">
            <a:r>
              <a:t>官方教材：https://tw-ytp.github.io/vocabuddy/</a:t>
            </a:r>
          </a:p>
          <a:p xmlns:a="http://schemas.openxmlformats.org/drawingml/2006/main">
            <a:r>
              <a:t>Colab：https://research.google.com/colaboratory/faq.html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3f821dbc8a46f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32e50f46b041d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7c90a9be2e44f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ecd6c095404c7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f9968c1d51432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843296daa34ee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A1D46B4-C188-401D-8399-BFC2085A8D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391F53B-C4B4-4BE7-82DE-A87A6ED5D2E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2FAACAC-0820-4480-9273-BDBCA0C364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A642FCB-8302-4E73-82DE-B3FD794498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DD237BD-B9AE-4D3B-A77A-BBE2BBA29A5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247C54C-101A-497C-90A3-6CF203B5B2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F7F1CC1-CB1D-4F03-9DF0-73FE5FB1504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0D982DB-9842-4960-9F84-E6C40E6D31B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A4FC930-F2C3-4DF7-9EE3-1F889FB8AA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8EF63BE-EB01-4C01-A204-535BEEBDC65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d2d459624854db5" /><Relationship Type="http://schemas.openxmlformats.org/officeDocument/2006/relationships/slideLayout" Target="/ppt/slideLayouts/slideLayout1.xml" Id="R5136962446c54073" /><Relationship Type="http://schemas.openxmlformats.org/officeDocument/2006/relationships/slideLayout" Target="/ppt/slideLayouts/slideLayout2.xml" Id="R8b37cae401e74c88" /><Relationship Type="http://schemas.openxmlformats.org/officeDocument/2006/relationships/slideLayout" Target="/ppt/slideLayouts/slideLayout3.xml" Id="R265fa5cdc5f14d22" /><Relationship Type="http://schemas.openxmlformats.org/officeDocument/2006/relationships/slideLayout" Target="/ppt/slideLayouts/slideLayout4.xml" Id="R9dc2bcd8e47e4e0b" /><Relationship Type="http://schemas.openxmlformats.org/officeDocument/2006/relationships/slideLayout" Target="/ppt/slideLayouts/slideLayout5.xml" Id="Ra43a82d1d08e4bd8" /><Relationship Type="http://schemas.openxmlformats.org/officeDocument/2006/relationships/slideLayout" Target="/ppt/slideLayouts/slideLayout6.xml" Id="R49f937e7b5234fa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136962446c54073"/>
    <p:sldLayoutId xmlns:r="http://schemas.openxmlformats.org/officeDocument/2006/relationships" id="2147483650" r:id="R8b37cae401e74c88"/>
    <p:sldLayoutId xmlns:r="http://schemas.openxmlformats.org/officeDocument/2006/relationships" id="2147483651" r:id="R265fa5cdc5f14d22"/>
    <p:sldLayoutId xmlns:r="http://schemas.openxmlformats.org/officeDocument/2006/relationships" id="2147483652" r:id="R9dc2bcd8e47e4e0b"/>
    <p:sldLayoutId xmlns:r="http://schemas.openxmlformats.org/officeDocument/2006/relationships" id="2147483653" r:id="Ra43a82d1d08e4bd8"/>
    <p:sldLayoutId xmlns:r="http://schemas.openxmlformats.org/officeDocument/2006/relationships" id="2147483654" r:id="R49f937e7b5234fa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45fc2f0be14035" /><Relationship Type="http://schemas.openxmlformats.org/officeDocument/2006/relationships/notesSlide" Target="/ppt/notesSlides/notesSlide1.xml" Id="Rc701e6fdaf574e8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50b9cb7abc410b" /><Relationship Type="http://schemas.openxmlformats.org/officeDocument/2006/relationships/notesSlide" Target="/ppt/notesSlides/notesSlide2.xml" Id="R65a474d8f2054f2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0e6a354fb24fc2" /><Relationship Type="http://schemas.openxmlformats.org/officeDocument/2006/relationships/notesSlide" Target="/ppt/notesSlides/notesSlide3.xml" Id="Rfce0f91c42b5417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3333f4a2ab4818" /><Relationship Type="http://schemas.openxmlformats.org/officeDocument/2006/relationships/notesSlide" Target="/ppt/notesSlides/notesSlide4.xml" Id="R2b89f671091c40a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2f4c8df5f94928" /><Relationship Type="http://schemas.openxmlformats.org/officeDocument/2006/relationships/notesSlide" Target="/ppt/notesSlides/notesSlide5.xml" Id="R46995463a4fd432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12a6de76e24dcb" /><Relationship Type="http://schemas.openxmlformats.org/officeDocument/2006/relationships/notesSlide" Target="/ppt/notesSlides/notesSlide6.xml" Id="R70afa904bcdf468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e8b5521b334cd7" /><Relationship Type="http://schemas.openxmlformats.org/officeDocument/2006/relationships/notesSlide" Target="/ppt/notesSlides/notesSlide7.xml" Id="R3a976985877f480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e6dab687064bb5" /><Relationship Type="http://schemas.openxmlformats.org/officeDocument/2006/relationships/notesSlide" Target="/ppt/notesSlides/notesSlide8.xml" Id="Rc2345b9e63aa437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3b2691b15d47dc" /><Relationship Type="http://schemas.openxmlformats.org/officeDocument/2006/relationships/notesSlide" Target="/ppt/notesSlides/notesSlide9.xml" Id="R80eaeebc9179482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a1ec51d19244c7" /><Relationship Type="http://schemas.openxmlformats.org/officeDocument/2006/relationships/notesSlide" Target="/ppt/notesSlides/notesSlide10.xml" Id="R9f806f4eda7b4cc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c5939cae804a22" /><Relationship Type="http://schemas.openxmlformats.org/officeDocument/2006/relationships/notesSlide" Target="/ppt/notesSlides/notesSlide11.xml" Id="R8ab176ce39684bb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df0aea67904536" /><Relationship Type="http://schemas.openxmlformats.org/officeDocument/2006/relationships/notesSlide" Target="/ppt/notesSlides/notesSlide12.xml" Id="R0c4ddc404d2945e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2e9f5a65e4480a" /><Relationship Type="http://schemas.openxmlformats.org/officeDocument/2006/relationships/notesSlide" Target="/ppt/notesSlides/notesSlide13.xml" Id="R4da4b53287d84d0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a6a17851874f4b" /><Relationship Type="http://schemas.openxmlformats.org/officeDocument/2006/relationships/notesSlide" Target="/ppt/notesSlides/notesSlide14.xml" Id="R8f13ab285d6d42f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fa46a97d5d4eec" /><Relationship Type="http://schemas.openxmlformats.org/officeDocument/2006/relationships/notesSlide" Target="/ppt/notesSlides/notesSlide15.xml" Id="R520d973ebddc4b0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3ca4fc11524783" /><Relationship Type="http://schemas.openxmlformats.org/officeDocument/2006/relationships/notesSlide" Target="/ppt/notesSlides/notesSlide16.xml" Id="R1ff105f139134f4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e5db80eb0e4446" /><Relationship Type="http://schemas.openxmlformats.org/officeDocument/2006/relationships/notesSlide" Target="/ppt/notesSlides/notesSlide17.xml" Id="R0a80f03ab3de4bd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14effd4aa04528" /><Relationship Type="http://schemas.openxmlformats.org/officeDocument/2006/relationships/notesSlide" Target="/ppt/notesSlides/notesSlide18.xml" Id="R2c05f6d93f9d4bd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7c675194cc4ce9" /><Relationship Type="http://schemas.openxmlformats.org/officeDocument/2006/relationships/notesSlide" Target="/ppt/notesSlides/notesSlide19.xml" Id="R16246ff2b06d4d1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c269e92b904a12" /><Relationship Type="http://schemas.openxmlformats.org/officeDocument/2006/relationships/notesSlide" Target="/ppt/notesSlides/notesSlide20.xml" Id="R69e37153c3fb496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c2841841cd4570" /><Relationship Type="http://schemas.openxmlformats.org/officeDocument/2006/relationships/notesSlide" Target="/ppt/notesSlides/notesSlide21.xml" Id="Red6a05080206485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bbeebd1ac546ff" /><Relationship Type="http://schemas.openxmlformats.org/officeDocument/2006/relationships/notesSlide" Target="/ppt/notesSlides/notesSlide22.xml" Id="R8ed92e50984c470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71337a63e1413d" /><Relationship Type="http://schemas.openxmlformats.org/officeDocument/2006/relationships/notesSlide" Target="/ppt/notesSlides/notesSlide23.xml" Id="Raa082c3ff8ad4c1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f8a670d397498c" /><Relationship Type="http://schemas.openxmlformats.org/officeDocument/2006/relationships/notesSlide" Target="/ppt/notesSlides/notesSlide24.xml" Id="R760bf7334df4495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a42207d3f54957" /><Relationship Type="http://schemas.openxmlformats.org/officeDocument/2006/relationships/notesSlide" Target="/ppt/notesSlides/notesSlide25.xml" Id="Raad4ce769c6841ec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a5b6aade694fb0" /><Relationship Type="http://schemas.openxmlformats.org/officeDocument/2006/relationships/notesSlide" Target="/ppt/notesSlides/notesSlide26.xml" Id="R1ac02c9352de4327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5da878053a45ab" /><Relationship Type="http://schemas.openxmlformats.org/officeDocument/2006/relationships/notesSlide" Target="/ppt/notesSlides/notesSlide27.xml" Id="R7776d841b7884213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4e42a7e88b44fa" /><Relationship Type="http://schemas.openxmlformats.org/officeDocument/2006/relationships/notesSlide" Target="/ppt/notesSlides/notesSlide28.xml" Id="Rfd51c5b81b254b45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267d8a7e434e39" /><Relationship Type="http://schemas.openxmlformats.org/officeDocument/2006/relationships/notesSlide" Target="/ppt/notesSlides/notesSlide29.xml" Id="R0ddcf5ac6b724951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10258e2c1f466e" /><Relationship Type="http://schemas.openxmlformats.org/officeDocument/2006/relationships/notesSlide" Target="/ppt/notesSlides/notesSlide30.xml" Id="R00c6c5bb803e4679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2f52e6c9614fbd" /><Relationship Type="http://schemas.openxmlformats.org/officeDocument/2006/relationships/notesSlide" Target="/ppt/notesSlides/notesSlide31.xml" Id="R7cb82077fcaa4c67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eb8cd1f93343df" /><Relationship Type="http://schemas.openxmlformats.org/officeDocument/2006/relationships/notesSlide" Target="/ppt/notesSlides/notesSlide32.xml" Id="R4d40337024334f1a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b993e9d01a4f1e" /><Relationship Type="http://schemas.openxmlformats.org/officeDocument/2006/relationships/notesSlide" Target="/ppt/notesSlides/notesSlide33.xml" Id="R038460a76ab94a7b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ecf187d9b84164" /><Relationship Type="http://schemas.openxmlformats.org/officeDocument/2006/relationships/notesSlide" Target="/ppt/notesSlides/notesSlide34.xml" Id="R4e128a7cc4d847b1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f201bd89b64aac" /><Relationship Type="http://schemas.openxmlformats.org/officeDocument/2006/relationships/notesSlide" Target="/ppt/notesSlides/notesSlide35.xml" Id="Rec9e671d43de4e50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e6e9cc85ac4a6d" /><Relationship Type="http://schemas.openxmlformats.org/officeDocument/2006/relationships/notesSlide" Target="/ppt/notesSlides/notesSlide36.xml" Id="R34f2780ca1b243a6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c7d484879f47da" /><Relationship Type="http://schemas.openxmlformats.org/officeDocument/2006/relationships/notesSlide" Target="/ppt/notesSlides/notesSlide37.xml" Id="R29e6eac52f8143be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670df878ed4afe" /><Relationship Type="http://schemas.openxmlformats.org/officeDocument/2006/relationships/notesSlide" Target="/ppt/notesSlides/notesSlide38.xml" Id="Rac890386b7444d23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a87d934ee74d66" /><Relationship Type="http://schemas.openxmlformats.org/officeDocument/2006/relationships/notesSlide" Target="/ppt/notesSlides/notesSlide39.xml" Id="R05845f491bac44e2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8da7eb9989497e" /><Relationship Type="http://schemas.openxmlformats.org/officeDocument/2006/relationships/notesSlide" Target="/ppt/notesSlides/notesSlide40.xml" Id="R0e1b2b9050594d5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2D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">
            <a:extLst xmlns:a="http://schemas.openxmlformats.org/drawingml/2006/main">
              <a:ext uri="{FF2B5EF4-FFF2-40B4-BE49-F238E27FC236}">
                <a16:creationId xmlns:a16="http://schemas.microsoft.com/office/drawing/2014/main" id="{E44E38E5-914F-48EB-A17E-9B9DF5A58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57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8FD5C0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8FD5C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8FD5C0"/>
                </a:solidFill>
                <a:latin typeface="Noto Sans CJK TC"/>
                <a:ea typeface="Noto Sans CJK TC"/>
                <a:cs typeface="Noto Sans CJK TC"/>
              </a:rPr>
              <a:t>操作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3C84A1E-CFD3-4A83-BF7C-92FD0125F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390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4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4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AI-Native 開發工作坊</a:t>
            </a:r>
          </a:p>
        </p:txBody>
      </p:sp>
      <p:sp>
        <p:nvSpPr>
          <p:cNvPr id="3" name="main-copy">
            <a:extLst xmlns:a="http://schemas.openxmlformats.org/drawingml/2006/main">
              <a:ext uri="{FF2B5EF4-FFF2-40B4-BE49-F238E27FC236}">
                <a16:creationId xmlns:a16="http://schemas.microsoft.com/office/drawing/2014/main" id="{ACA20BEB-3798-4659-ACC7-ACD83ED3C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2250"/>
            <a:ext cx="81915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YTP2026H2 E2</a:t>
            </a:r>
          </a:p>
          <a:p xmlns:a="http://schemas.openxmlformats.org/drawingml/2006/main">
            <a:pPr>
              <a:defRPr sz="255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蔡芸琤 Yun-Cheng Tsai</a:t>
            </a:r>
          </a:p>
          <a:p xmlns:a="http://schemas.openxmlformats.org/drawingml/2006/main">
            <a:pPr>
              <a:defRPr sz="255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2026.10.17  09:00–13:00（台灣時間）</a:t>
            </a:r>
          </a:p>
        </p:txBody>
      </p:sp>
      <p:sp>
        <p:nvSpPr>
          <p:cNvPr id="4" name="side-copy">
            <a:extLst xmlns:a="http://schemas.openxmlformats.org/drawingml/2006/main">
              <a:ext uri="{FF2B5EF4-FFF2-40B4-BE49-F238E27FC236}">
                <a16:creationId xmlns:a16="http://schemas.microsoft.com/office/drawing/2014/main" id="{4A62B4AD-71F8-43FB-86BB-ECDC2D8F2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762250"/>
            <a:ext cx="5048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0">
                <a:solidFill>
                  <a:srgbClr val="8FD5C0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8FD5C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0">
                <a:solidFill>
                  <a:srgbClr val="8FD5C0"/>
                </a:solidFill>
                <a:latin typeface="Noto Sans CJK TC"/>
                <a:ea typeface="Noto Sans CJK TC"/>
                <a:cs typeface="Noto Sans CJK TC"/>
              </a:rPr>
              <a:t>VS Code 實作</a:t>
            </a:r>
          </a:p>
          <a:p xmlns:a="http://schemas.openxmlformats.org/drawingml/2006/main">
            <a:pPr>
              <a:defRPr sz="2550" b="0">
                <a:solidFill>
                  <a:srgbClr val="8FD5C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0">
                <a:solidFill>
                  <a:srgbClr val="8FD5C0"/>
                </a:solidFill>
                <a:latin typeface="Noto Sans CJK TC"/>
                <a:ea typeface="Noto Sans CJK TC"/>
                <a:cs typeface="Noto Sans CJK TC"/>
              </a:rPr>
              <a:t>Colab 重現</a:t>
            </a:r>
          </a:p>
          <a:p xmlns:a="http://schemas.openxmlformats.org/drawingml/2006/main">
            <a:pPr>
              <a:defRPr sz="2550" b="0">
                <a:solidFill>
                  <a:srgbClr val="8FD5C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0">
                <a:solidFill>
                  <a:srgbClr val="8FD5C0"/>
                </a:solidFill>
                <a:latin typeface="Noto Sans CJK TC"/>
                <a:ea typeface="Noto Sans CJK TC"/>
                <a:cs typeface="Noto Sans CJK TC"/>
              </a:rPr>
              <a:t>同一份程式，同一組驗收</a:t>
            </a:r>
          </a:p>
        </p:txBody>
      </p:sp>
      <p:sp>
        <p:nvSpPr>
          <p:cNvPr id="5" name="checkpoint">
            <a:extLst xmlns:a="http://schemas.openxmlformats.org/drawingml/2006/main">
              <a:ext uri="{FF2B5EF4-FFF2-40B4-BE49-F238E27FC236}">
                <a16:creationId xmlns:a16="http://schemas.microsoft.com/office/drawing/2014/main" id="{77F1EEDC-E07D-476B-91A3-20019A84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353300"/>
            <a:ext cx="1371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8FD5C0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8FD5C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8FD5C0"/>
                </a:solidFill>
                <a:latin typeface="Noto Sans CJK TC"/>
                <a:ea typeface="Noto Sans CJK TC"/>
                <a:cs typeface="Noto Sans CJK TC"/>
              </a:rPr>
              <a:t>檢查點  今天的成果：一個可解釋、可修改、可驗證的變更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39A4F4B3-D3CA-415F-9BE1-A3FAB3CC3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0200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C7D6DB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C7D6D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C7D6DB"/>
                </a:solidFill>
                <a:latin typeface="Noto Sans CJK TC"/>
                <a:ea typeface="Noto Sans CJK TC"/>
                <a:cs typeface="Noto Sans CJK TC"/>
              </a:rPr>
              <a:t>01 / 40</a:t>
            </a:r>
          </a:p>
        </p:txBody>
      </p:sp>
    </p:spTree>
    <p:extLst>
      <p:ext uri="{BB962C8B-B14F-4D97-AF65-F5344CB8AC3E}">
        <p14:creationId xmlns:p14="http://schemas.microsoft.com/office/powerpoint/2010/main" val="17628593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">
            <a:extLst xmlns:a="http://schemas.openxmlformats.org/drawingml/2006/main">
              <a:ext uri="{FF2B5EF4-FFF2-40B4-BE49-F238E27FC236}">
                <a16:creationId xmlns:a16="http://schemas.microsoft.com/office/drawing/2014/main" id="{9012964F-5103-4A07-9C2F-D2121B8F6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57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47D71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47D7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247D71"/>
                </a:solidFill>
                <a:latin typeface="Noto Sans CJK TC"/>
                <a:ea typeface="Noto Sans CJK TC"/>
                <a:cs typeface="Noto Sans CJK TC"/>
              </a:rPr>
              <a:t>操作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ED4AD66-80F2-4160-B379-7AAEFE53C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390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今天要交出的成果</a:t>
            </a:r>
          </a:p>
        </p:txBody>
      </p:sp>
      <p:sp>
        <p:nvSpPr>
          <p:cNvPr id="3" name="steps">
            <a:extLst xmlns:a="http://schemas.openxmlformats.org/drawingml/2006/main">
              <a:ext uri="{FF2B5EF4-FFF2-40B4-BE49-F238E27FC236}">
                <a16:creationId xmlns:a16="http://schemas.microsoft.com/office/drawing/2014/main" id="{18B8A951-FEE7-4675-A143-CC61E5B24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68580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01  找到「記得」按鈕的資料流</a:t>
            </a:r>
          </a:p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02  新增三個程式主題單字</a:t>
            </a:r>
          </a:p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03  新增 countDue 與測試</a:t>
            </a:r>
          </a:p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04  在 Colab 重做並比較結果</a:t>
            </a:r>
          </a:p>
        </p:txBody>
      </p:sp>
      <p:sp>
        <p:nvSpPr>
          <p:cNvPr id="4" name="code-or-prompt">
            <a:extLst xmlns:a="http://schemas.openxmlformats.org/drawingml/2006/main">
              <a:ext uri="{FF2B5EF4-FFF2-40B4-BE49-F238E27FC236}">
                <a16:creationId xmlns:a16="http://schemas.microsoft.com/office/drawing/2014/main" id="{E8E4FB7E-3D7A-4CBC-9641-52C45F516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67000"/>
            <a:ext cx="6334125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新增單字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loop＝迴圈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variable＝變數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debug＝除錯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新增純函式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countDue(states, today)</a:t>
            </a:r>
          </a:p>
        </p:txBody>
      </p:sp>
      <p:sp>
        <p:nvSpPr>
          <p:cNvPr id="5" name="checkpoint">
            <a:extLst xmlns:a="http://schemas.openxmlformats.org/drawingml/2006/main">
              <a:ext uri="{FF2B5EF4-FFF2-40B4-BE49-F238E27FC236}">
                <a16:creationId xmlns:a16="http://schemas.microsoft.com/office/drawing/2014/main" id="{3FD48B41-F1DB-4CB2-B0F3-3ED0E5082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353300"/>
            <a:ext cx="1371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檢查點  能說清楚每一個改動的理由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9D2F3624-7A52-4DAE-9181-E3E9D8C5A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0200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70808B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080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70808B"/>
                </a:solidFill>
                <a:latin typeface="Noto Sans CJK TC"/>
                <a:ea typeface="Noto Sans CJK TC"/>
                <a:cs typeface="Noto Sans CJK TC"/>
              </a:rPr>
              <a:t>02 / 40</a:t>
            </a:r>
          </a:p>
        </p:txBody>
      </p:sp>
    </p:spTree>
    <p:extLst>
      <p:ext uri="{BB962C8B-B14F-4D97-AF65-F5344CB8AC3E}">
        <p14:creationId xmlns:p14="http://schemas.microsoft.com/office/powerpoint/2010/main" val="17280947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">
            <a:extLst xmlns:a="http://schemas.openxmlformats.org/drawingml/2006/main">
              <a:ext uri="{FF2B5EF4-FFF2-40B4-BE49-F238E27FC236}">
                <a16:creationId xmlns:a16="http://schemas.microsoft.com/office/drawing/2014/main" id="{F08117DC-F736-42C1-A974-C090A62EE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57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47D71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47D7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247D71"/>
                </a:solidFill>
                <a:latin typeface="Noto Sans CJK TC"/>
                <a:ea typeface="Noto Sans CJK TC"/>
                <a:cs typeface="Noto Sans CJK TC"/>
              </a:rPr>
              <a:t>操作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9CBC694-6CCD-4888-B04D-F0662E29B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390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四小時操作節奏</a:t>
            </a:r>
          </a:p>
        </p:txBody>
      </p:sp>
      <p:sp>
        <p:nvSpPr>
          <p:cNvPr id="3" name="steps">
            <a:extLst xmlns:a="http://schemas.openxmlformats.org/drawingml/2006/main">
              <a:ext uri="{FF2B5EF4-FFF2-40B4-BE49-F238E27FC236}">
                <a16:creationId xmlns:a16="http://schemas.microsoft.com/office/drawing/2014/main" id="{7B662D60-0DD7-4AD7-9545-EE1388081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68580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09:00–09:20  目標、環境與起點</a:t>
            </a:r>
          </a:p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09:20–09:50  三輪提問與抽驗</a:t>
            </a:r>
          </a:p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09:50–10:30  指示檔與單字修改</a:t>
            </a:r>
          </a:p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10:30–10:40  休息</a:t>
            </a:r>
          </a:p>
        </p:txBody>
      </p:sp>
      <p:sp>
        <p:nvSpPr>
          <p:cNvPr id="4" name="code-or-prompt">
            <a:extLst xmlns:a="http://schemas.openxmlformats.org/drawingml/2006/main">
              <a:ext uri="{FF2B5EF4-FFF2-40B4-BE49-F238E27FC236}">
                <a16:creationId xmlns:a16="http://schemas.microsoft.com/office/drawing/2014/main" id="{CE005752-2FCC-425B-B437-ACCF74E67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67000"/>
            <a:ext cx="6334125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10:40–11:20  countDue 與驗收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11:20–11:30  休息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11:30–12:20  Colab 重做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12:20–12:45  技能與 review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12:45–13:00  展示與收尾</a:t>
            </a:r>
          </a:p>
        </p:txBody>
      </p:sp>
      <p:sp>
        <p:nvSpPr>
          <p:cNvPr id="5" name="checkpoint">
            <a:extLst xmlns:a="http://schemas.openxmlformats.org/drawingml/2006/main">
              <a:ext uri="{FF2B5EF4-FFF2-40B4-BE49-F238E27FC236}">
                <a16:creationId xmlns:a16="http://schemas.microsoft.com/office/drawing/2014/main" id="{BBCDB71E-00B1-4D58-BE9E-A5755CAD5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353300"/>
            <a:ext cx="1371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檢查點  提前完成者：請同伴解釋測試與 diff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27D978E9-F4C5-4F48-B140-544258952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0200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70808B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080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70808B"/>
                </a:solidFill>
                <a:latin typeface="Noto Sans CJK TC"/>
                <a:ea typeface="Noto Sans CJK TC"/>
                <a:cs typeface="Noto Sans CJK TC"/>
              </a:rPr>
              <a:t>03 / 40</a:t>
            </a:r>
          </a:p>
        </p:txBody>
      </p:sp>
    </p:spTree>
    <p:extLst>
      <p:ext uri="{BB962C8B-B14F-4D97-AF65-F5344CB8AC3E}">
        <p14:creationId xmlns:p14="http://schemas.microsoft.com/office/powerpoint/2010/main" val="18010152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">
            <a:extLst xmlns:a="http://schemas.openxmlformats.org/drawingml/2006/main">
              <a:ext uri="{FF2B5EF4-FFF2-40B4-BE49-F238E27FC236}">
                <a16:creationId xmlns:a16="http://schemas.microsoft.com/office/drawing/2014/main" id="{D60E9BB9-3047-4A9F-B590-8F3572E6F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57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47D71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47D7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247D71"/>
                </a:solidFill>
                <a:latin typeface="Noto Sans CJK TC"/>
                <a:ea typeface="Noto Sans CJK TC"/>
                <a:cs typeface="Noto Sans CJK TC"/>
              </a:rPr>
              <a:t>操作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BB9EBC7-DF32-47A7-97FE-31AD7118A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390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課前環境檢查</a:t>
            </a:r>
          </a:p>
        </p:txBody>
      </p:sp>
      <p:sp>
        <p:nvSpPr>
          <p:cNvPr id="3" name="steps">
            <a:extLst xmlns:a="http://schemas.openxmlformats.org/drawingml/2006/main">
              <a:ext uri="{FF2B5EF4-FFF2-40B4-BE49-F238E27FC236}">
                <a16:creationId xmlns:a16="http://schemas.microsoft.com/office/drawing/2014/main" id="{1CD0525C-9202-44F6-A0F5-8B95C770A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68580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VS Code、Git、Node.js、Python</a:t>
            </a:r>
          </a:p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一個能讀取工作資料夾的 AI 工具</a:t>
            </a:r>
          </a:p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Google 帳號與 Colab</a:t>
            </a:r>
          </a:p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下載操作包並解壓縮</a:t>
            </a:r>
          </a:p>
        </p:txBody>
      </p:sp>
      <p:sp>
        <p:nvSpPr>
          <p:cNvPr id="4" name="code-or-prompt">
            <a:extLst xmlns:a="http://schemas.openxmlformats.org/drawingml/2006/main">
              <a:ext uri="{FF2B5EF4-FFF2-40B4-BE49-F238E27FC236}">
                <a16:creationId xmlns:a16="http://schemas.microsoft.com/office/drawing/2014/main" id="{6EE4EED6-9284-493E-B29B-75A0E6C54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67000"/>
            <a:ext cx="6334125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git --version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node --version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python --version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macOS 可用 python3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Windows 可用 py</a:t>
            </a:r>
          </a:p>
        </p:txBody>
      </p:sp>
      <p:sp>
        <p:nvSpPr>
          <p:cNvPr id="5" name="checkpoint">
            <a:extLst xmlns:a="http://schemas.openxmlformats.org/drawingml/2006/main">
              <a:ext uri="{FF2B5EF4-FFF2-40B4-BE49-F238E27FC236}">
                <a16:creationId xmlns:a16="http://schemas.microsoft.com/office/drawing/2014/main" id="{34FD775F-F87B-4081-B11A-B623FFC1B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353300"/>
            <a:ext cx="1371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檢查點  版本能顯示，工具能開啟資料夾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6996AE32-D42B-48A9-8BAE-0DF4133C4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0200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70808B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080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70808B"/>
                </a:solidFill>
                <a:latin typeface="Noto Sans CJK TC"/>
                <a:ea typeface="Noto Sans CJK TC"/>
                <a:cs typeface="Noto Sans CJK TC"/>
              </a:rPr>
              <a:t>04 / 40</a:t>
            </a:r>
          </a:p>
        </p:txBody>
      </p:sp>
    </p:spTree>
    <p:extLst>
      <p:ext uri="{BB962C8B-B14F-4D97-AF65-F5344CB8AC3E}">
        <p14:creationId xmlns:p14="http://schemas.microsoft.com/office/powerpoint/2010/main" val="19880519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">
            <a:extLst xmlns:a="http://schemas.openxmlformats.org/drawingml/2006/main">
              <a:ext uri="{FF2B5EF4-FFF2-40B4-BE49-F238E27FC236}">
                <a16:creationId xmlns:a16="http://schemas.microsoft.com/office/drawing/2014/main" id="{0DE0DCBC-4BAC-43C0-8C81-7EE5E41DA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57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47D71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47D7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247D71"/>
                </a:solidFill>
                <a:latin typeface="Noto Sans CJK TC"/>
                <a:ea typeface="Noto Sans CJK TC"/>
                <a:cs typeface="Noto Sans CJK TC"/>
              </a:rPr>
              <a:t>操作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AE556BD-8E43-4595-9509-584D44783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390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教材、完成品與本次起點</a:t>
            </a:r>
          </a:p>
        </p:txBody>
      </p:sp>
      <p:sp>
        <p:nvSpPr>
          <p:cNvPr id="3" name="steps">
            <a:extLst xmlns:a="http://schemas.openxmlformats.org/drawingml/2006/main">
              <a:ext uri="{FF2B5EF4-FFF2-40B4-BE49-F238E27FC236}">
                <a16:creationId xmlns:a16="http://schemas.microsoft.com/office/drawing/2014/main" id="{D437C9A7-8013-40B9-9B49-CF104401E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68580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線上教材：自學主線與 Lab 規格</a:t>
            </a:r>
          </a:p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官方 repo：完成品、驗收與歷史</a:t>
            </a:r>
          </a:p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操作包 starter：v1.1 的 lab10 快照</a:t>
            </a:r>
          </a:p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solution：本次雙環境任務解答</a:t>
            </a:r>
          </a:p>
        </p:txBody>
      </p:sp>
      <p:sp>
        <p:nvSpPr>
          <p:cNvPr id="4" name="code-or-prompt">
            <a:extLst xmlns:a="http://schemas.openxmlformats.org/drawingml/2006/main">
              <a:ext uri="{FF2B5EF4-FFF2-40B4-BE49-F238E27FC236}">
                <a16:creationId xmlns:a16="http://schemas.microsoft.com/office/drawing/2014/main" id="{FE2EC596-8B5D-4EF1-AC62-B17455A2F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67000"/>
            <a:ext cx="6334125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教材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tw-ytp.github.io/vocabuddy/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參考倉庫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github.com/ytp26h2/ytp26h2-labs</a:t>
            </a:r>
          </a:p>
        </p:txBody>
      </p:sp>
      <p:sp>
        <p:nvSpPr>
          <p:cNvPr id="5" name="checkpoint">
            <a:extLst xmlns:a="http://schemas.openxmlformats.org/drawingml/2006/main">
              <a:ext uri="{FF2B5EF4-FFF2-40B4-BE49-F238E27FC236}">
                <a16:creationId xmlns:a16="http://schemas.microsoft.com/office/drawing/2014/main" id="{624EF16B-878A-4CC0-9F8A-315C5317B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353300"/>
            <a:ext cx="1371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檢查點  先自行修改，再對照解答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83ADB81A-D661-47D4-A2D1-7D0D9E52C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0200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70808B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080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70808B"/>
                </a:solidFill>
                <a:latin typeface="Noto Sans CJK TC"/>
                <a:ea typeface="Noto Sans CJK TC"/>
                <a:cs typeface="Noto Sans CJK TC"/>
              </a:rPr>
              <a:t>05 / 40</a:t>
            </a:r>
          </a:p>
        </p:txBody>
      </p:sp>
    </p:spTree>
    <p:extLst>
      <p:ext uri="{BB962C8B-B14F-4D97-AF65-F5344CB8AC3E}">
        <p14:creationId xmlns:p14="http://schemas.microsoft.com/office/powerpoint/2010/main" val="5922973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">
            <a:extLst xmlns:a="http://schemas.openxmlformats.org/drawingml/2006/main">
              <a:ext uri="{FF2B5EF4-FFF2-40B4-BE49-F238E27FC236}">
                <a16:creationId xmlns:a16="http://schemas.microsoft.com/office/drawing/2014/main" id="{89DCAE8F-E879-4CC9-961B-6C83EDB24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57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47D71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47D7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247D71"/>
                </a:solidFill>
                <a:latin typeface="Noto Sans CJK TC"/>
                <a:ea typeface="Noto Sans CJK TC"/>
                <a:cs typeface="Noto Sans CJK TC"/>
              </a:rPr>
              <a:t>操作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0E920D0-6612-4E00-9C66-C149263C7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390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同一個任務，兩種工作環境</a:t>
            </a:r>
          </a:p>
        </p:txBody>
      </p:sp>
      <p:sp>
        <p:nvSpPr>
          <p:cNvPr id="3" name="steps">
            <a:extLst xmlns:a="http://schemas.openxmlformats.org/drawingml/2006/main">
              <a:ext uri="{FF2B5EF4-FFF2-40B4-BE49-F238E27FC236}">
                <a16:creationId xmlns:a16="http://schemas.microsoft.com/office/drawing/2014/main" id="{FCCB9F4F-2B70-48D4-B6EE-651493414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68580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VS Code</a:t>
            </a:r>
          </a:p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AI 讀取本機檔案，提出修改</a:t>
            </a:r>
          </a:p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終端機跑 JavaScript 測試</a:t>
            </a:r>
          </a:p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瀏覽器檢查 UI 與 localStorage</a:t>
            </a:r>
          </a:p>
        </p:txBody>
      </p:sp>
      <p:sp>
        <p:nvSpPr>
          <p:cNvPr id="4" name="code-or-prompt">
            <a:extLst xmlns:a="http://schemas.openxmlformats.org/drawingml/2006/main">
              <a:ext uri="{FF2B5EF4-FFF2-40B4-BE49-F238E27FC236}">
                <a16:creationId xmlns:a16="http://schemas.microsoft.com/office/drawing/2014/main" id="{AC189E4E-4E87-47ED-8EAB-8073AF739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67000"/>
            <a:ext cx="6334125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Colab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儲存格顯示檔案，再提供給 AI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把回傳程式寫回 app/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同樣用 Node 跑測試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下載結果保存</a:t>
            </a:r>
          </a:p>
        </p:txBody>
      </p:sp>
      <p:sp>
        <p:nvSpPr>
          <p:cNvPr id="5" name="checkpoint">
            <a:extLst xmlns:a="http://schemas.openxmlformats.org/drawingml/2006/main">
              <a:ext uri="{FF2B5EF4-FFF2-40B4-BE49-F238E27FC236}">
                <a16:creationId xmlns:a16="http://schemas.microsoft.com/office/drawing/2014/main" id="{07CC9A24-1347-4E3E-97B1-2050C4511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353300"/>
            <a:ext cx="1371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檢查點  兩邊共用資料與驗收，不假設工具能力相同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2E9188BB-AF9D-4840-9A2B-2A53344E1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0200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70808B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080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70808B"/>
                </a:solidFill>
                <a:latin typeface="Noto Sans CJK TC"/>
                <a:ea typeface="Noto Sans CJK TC"/>
                <a:cs typeface="Noto Sans CJK TC"/>
              </a:rPr>
              <a:t>06 / 40</a:t>
            </a:r>
          </a:p>
        </p:txBody>
      </p:sp>
    </p:spTree>
    <p:extLst>
      <p:ext uri="{BB962C8B-B14F-4D97-AF65-F5344CB8AC3E}">
        <p14:creationId xmlns:p14="http://schemas.microsoft.com/office/powerpoint/2010/main" val="13398881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">
            <a:extLst xmlns:a="http://schemas.openxmlformats.org/drawingml/2006/main">
              <a:ext uri="{FF2B5EF4-FFF2-40B4-BE49-F238E27FC236}">
                <a16:creationId xmlns:a16="http://schemas.microsoft.com/office/drawing/2014/main" id="{E0A106ED-4712-41E2-B779-0B9B6EA06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57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47D71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47D7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247D71"/>
                </a:solidFill>
                <a:latin typeface="Noto Sans CJK TC"/>
                <a:ea typeface="Noto Sans CJK TC"/>
                <a:cs typeface="Noto Sans CJK TC"/>
              </a:rPr>
              <a:t>VS Code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BECE82F-0059-4704-8540-BA38883CC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390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VS Code 01：開啟操作包</a:t>
            </a:r>
          </a:p>
        </p:txBody>
      </p:sp>
      <p:sp>
        <p:nvSpPr>
          <p:cNvPr id="3" name="steps">
            <a:extLst xmlns:a="http://schemas.openxmlformats.org/drawingml/2006/main">
              <a:ext uri="{FF2B5EF4-FFF2-40B4-BE49-F238E27FC236}">
                <a16:creationId xmlns:a16="http://schemas.microsoft.com/office/drawing/2014/main" id="{038FAA29-4943-4118-8A4C-EB2896617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68580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File → Open Folder → starter</a:t>
            </a:r>
          </a:p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確認左側有 app/ 與 PROJECT_RULES.md</a:t>
            </a:r>
          </a:p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Terminal → New Terminal</a:t>
            </a:r>
          </a:p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終端機目前位置應為 starter</a:t>
            </a:r>
          </a:p>
        </p:txBody>
      </p:sp>
      <p:sp>
        <p:nvSpPr>
          <p:cNvPr id="4" name="code-or-prompt">
            <a:extLst xmlns:a="http://schemas.openxmlformats.org/drawingml/2006/main">
              <a:ext uri="{FF2B5EF4-FFF2-40B4-BE49-F238E27FC236}">
                <a16:creationId xmlns:a16="http://schemas.microsoft.com/office/drawing/2014/main" id="{DAF60A81-1D3A-41D1-91BA-9E8A388D2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67000"/>
            <a:ext cx="6334125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starter/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  PROJECT_RULES.md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  app/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    index.html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    words.js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    srs.js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    test_srs.js</a:t>
            </a:r>
          </a:p>
        </p:txBody>
      </p:sp>
      <p:sp>
        <p:nvSpPr>
          <p:cNvPr id="5" name="checkpoint">
            <a:extLst xmlns:a="http://schemas.openxmlformats.org/drawingml/2006/main">
              <a:ext uri="{FF2B5EF4-FFF2-40B4-BE49-F238E27FC236}">
                <a16:creationId xmlns:a16="http://schemas.microsoft.com/office/drawing/2014/main" id="{56298095-3DC6-4E57-B930-A929BDBBD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353300"/>
            <a:ext cx="1371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檢查點  AI 工作目錄與終端機指向同一份 starter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51B00A70-DD0E-4539-B3E3-994053AD1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0200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70808B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080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70808B"/>
                </a:solidFill>
                <a:latin typeface="Noto Sans CJK TC"/>
                <a:ea typeface="Noto Sans CJK TC"/>
                <a:cs typeface="Noto Sans CJK TC"/>
              </a:rPr>
              <a:t>07 / 40</a:t>
            </a:r>
          </a:p>
        </p:txBody>
      </p:sp>
    </p:spTree>
    <p:extLst>
      <p:ext uri="{BB962C8B-B14F-4D97-AF65-F5344CB8AC3E}">
        <p14:creationId xmlns:p14="http://schemas.microsoft.com/office/powerpoint/2010/main" val="16235822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">
            <a:extLst xmlns:a="http://schemas.openxmlformats.org/drawingml/2006/main">
              <a:ext uri="{FF2B5EF4-FFF2-40B4-BE49-F238E27FC236}">
                <a16:creationId xmlns:a16="http://schemas.microsoft.com/office/drawing/2014/main" id="{F1ACB0BD-BB30-484E-B536-9F05A5220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57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47D71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47D7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247D71"/>
                </a:solidFill>
                <a:latin typeface="Noto Sans CJK TC"/>
                <a:ea typeface="Noto Sans CJK TC"/>
                <a:cs typeface="Noto Sans CJK TC"/>
              </a:rPr>
              <a:t>VS Code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1C6A917-18FA-4838-8F12-B78D6B63C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390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VS Code 02：建立自己的變更歷史</a:t>
            </a:r>
          </a:p>
        </p:txBody>
      </p:sp>
      <p:sp>
        <p:nvSpPr>
          <p:cNvPr id="3" name="steps">
            <a:extLst xmlns:a="http://schemas.openxmlformats.org/drawingml/2006/main">
              <a:ext uri="{FF2B5EF4-FFF2-40B4-BE49-F238E27FC236}">
                <a16:creationId xmlns:a16="http://schemas.microsoft.com/office/drawing/2014/main" id="{F9CBCE96-4859-4FCC-9510-8129182CB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68580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在 starter 建 Git repo</a:t>
            </a:r>
          </a:p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第一次 commit 留下未修改的起點</a:t>
            </a:r>
          </a:p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建立練習分支</a:t>
            </a:r>
          </a:p>
        </p:txBody>
      </p:sp>
      <p:sp>
        <p:nvSpPr>
          <p:cNvPr id="4" name="code-or-prompt">
            <a:extLst xmlns:a="http://schemas.openxmlformats.org/drawingml/2006/main">
              <a:ext uri="{FF2B5EF4-FFF2-40B4-BE49-F238E27FC236}">
                <a16:creationId xmlns:a16="http://schemas.microsoft.com/office/drawing/2014/main" id="{0847E96A-05C9-409B-A1BF-1E2915AA2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67000"/>
            <a:ext cx="6334125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git init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git add .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git commit -m "chore: E2 baseline"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git switch -c e2/practice</a:t>
            </a:r>
          </a:p>
        </p:txBody>
      </p:sp>
      <p:sp>
        <p:nvSpPr>
          <p:cNvPr id="5" name="checkpoint">
            <a:extLst xmlns:a="http://schemas.openxmlformats.org/drawingml/2006/main">
              <a:ext uri="{FF2B5EF4-FFF2-40B4-BE49-F238E27FC236}">
                <a16:creationId xmlns:a16="http://schemas.microsoft.com/office/drawing/2014/main" id="{6281B2E1-5B14-485A-8D5B-F22824DA6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353300"/>
            <a:ext cx="1371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檢查點  git status 顯示目前分支 e2/practice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FAC3C929-773F-458D-8356-16F26C912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0200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70808B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080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70808B"/>
                </a:solidFill>
                <a:latin typeface="Noto Sans CJK TC"/>
                <a:ea typeface="Noto Sans CJK TC"/>
                <a:cs typeface="Noto Sans CJK TC"/>
              </a:rPr>
              <a:t>08 / 40</a:t>
            </a:r>
          </a:p>
        </p:txBody>
      </p:sp>
    </p:spTree>
    <p:extLst>
      <p:ext uri="{BB962C8B-B14F-4D97-AF65-F5344CB8AC3E}">
        <p14:creationId xmlns:p14="http://schemas.microsoft.com/office/powerpoint/2010/main" val="66694555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">
            <a:extLst xmlns:a="http://schemas.openxmlformats.org/drawingml/2006/main">
              <a:ext uri="{FF2B5EF4-FFF2-40B4-BE49-F238E27FC236}">
                <a16:creationId xmlns:a16="http://schemas.microsoft.com/office/drawing/2014/main" id="{678AFF81-DF46-4922-8EE6-6BF79920C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57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47D71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47D7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247D71"/>
                </a:solidFill>
                <a:latin typeface="Noto Sans CJK TC"/>
                <a:ea typeface="Noto Sans CJK TC"/>
                <a:cs typeface="Noto Sans CJK TC"/>
              </a:rPr>
              <a:t>VS Code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127D563-EF04-4738-8FCB-235E5AE75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390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VS Code 03：先跑原本的測試</a:t>
            </a:r>
          </a:p>
        </p:txBody>
      </p:sp>
      <p:sp>
        <p:nvSpPr>
          <p:cNvPr id="3" name="steps">
            <a:extLst xmlns:a="http://schemas.openxmlformats.org/drawingml/2006/main">
              <a:ext uri="{FF2B5EF4-FFF2-40B4-BE49-F238E27FC236}">
                <a16:creationId xmlns:a16="http://schemas.microsoft.com/office/drawing/2014/main" id="{DC4DCBAD-CB9E-4715-AEA4-77D6CB8F8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68580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在終端機進入 app</a:t>
            </a:r>
          </a:p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逐一執行，不忽略報錯</a:t>
            </a:r>
          </a:p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保存原始輸出作為基準</a:t>
            </a:r>
          </a:p>
        </p:txBody>
      </p:sp>
      <p:sp>
        <p:nvSpPr>
          <p:cNvPr id="4" name="code-or-prompt">
            <a:extLst xmlns:a="http://schemas.openxmlformats.org/drawingml/2006/main">
              <a:ext uri="{FF2B5EF4-FFF2-40B4-BE49-F238E27FC236}">
                <a16:creationId xmlns:a16="http://schemas.microsoft.com/office/drawing/2014/main" id="{0FC70F79-2C13-4431-AB5C-6B5A4AFF6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67000"/>
            <a:ext cx="6334125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cd app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node test_srs.js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node test_csv.js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node check_words.js</a:t>
            </a:r>
          </a:p>
        </p:txBody>
      </p:sp>
      <p:sp>
        <p:nvSpPr>
          <p:cNvPr id="5" name="checkpoint">
            <a:extLst xmlns:a="http://schemas.openxmlformats.org/drawingml/2006/main">
              <a:ext uri="{FF2B5EF4-FFF2-40B4-BE49-F238E27FC236}">
                <a16:creationId xmlns:a16="http://schemas.microsoft.com/office/drawing/2014/main" id="{AA04FE1A-C9F4-4A08-B885-6C27D9300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353300"/>
            <a:ext cx="1371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檢查點  三支原始測試都通過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8A87DDA-F2E4-4FDD-A180-82C4E09F9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0200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70808B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080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70808B"/>
                </a:solidFill>
                <a:latin typeface="Noto Sans CJK TC"/>
                <a:ea typeface="Noto Sans CJK TC"/>
                <a:cs typeface="Noto Sans CJK TC"/>
              </a:rPr>
              <a:t>09 / 40</a:t>
            </a:r>
          </a:p>
        </p:txBody>
      </p:sp>
    </p:spTree>
    <p:extLst>
      <p:ext uri="{BB962C8B-B14F-4D97-AF65-F5344CB8AC3E}">
        <p14:creationId xmlns:p14="http://schemas.microsoft.com/office/powerpoint/2010/main" val="46853343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">
            <a:extLst xmlns:a="http://schemas.openxmlformats.org/drawingml/2006/main">
              <a:ext uri="{FF2B5EF4-FFF2-40B4-BE49-F238E27FC236}">
                <a16:creationId xmlns:a16="http://schemas.microsoft.com/office/drawing/2014/main" id="{1D125726-26FB-400B-8E6A-6F23E77D5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57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47D71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47D7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247D71"/>
                </a:solidFill>
                <a:latin typeface="Noto Sans CJK TC"/>
                <a:ea typeface="Noto Sans CJK TC"/>
                <a:cs typeface="Noto Sans CJK TC"/>
              </a:rPr>
              <a:t>VS Code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2D9A0C1-6215-474C-B8B5-8F1BB0565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390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VS Code 04：打開可操作的畫面</a:t>
            </a:r>
          </a:p>
        </p:txBody>
      </p:sp>
      <p:sp>
        <p:nvSpPr>
          <p:cNvPr id="3" name="steps">
            <a:extLst xmlns:a="http://schemas.openxmlformats.org/drawingml/2006/main">
              <a:ext uri="{FF2B5EF4-FFF2-40B4-BE49-F238E27FC236}">
                <a16:creationId xmlns:a16="http://schemas.microsoft.com/office/drawing/2014/main" id="{74105461-44E2-44F1-9BD1-E96885515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68580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終端機停留 app</a:t>
            </a:r>
          </a:p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啟動 HTTP 伺服器</a:t>
            </a:r>
          </a:p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瀏覽器開 localhost:8000</a:t>
            </a:r>
          </a:p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按「顯示答案」，再按「記得」</a:t>
            </a:r>
          </a:p>
        </p:txBody>
      </p:sp>
      <p:sp>
        <p:nvSpPr>
          <p:cNvPr id="4" name="code-or-prompt">
            <a:extLst xmlns:a="http://schemas.openxmlformats.org/drawingml/2006/main">
              <a:ext uri="{FF2B5EF4-FFF2-40B4-BE49-F238E27FC236}">
                <a16:creationId xmlns:a16="http://schemas.microsoft.com/office/drawing/2014/main" id="{F99C34DA-9FA2-46D8-AD72-50BE2CEED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67000"/>
            <a:ext cx="6334125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python -m http.server 8000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替代命令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python3 -m http.server 8000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py -m http.server 8000</a:t>
            </a:r>
          </a:p>
        </p:txBody>
      </p:sp>
      <p:sp>
        <p:nvSpPr>
          <p:cNvPr id="5" name="checkpoint">
            <a:extLst xmlns:a="http://schemas.openxmlformats.org/drawingml/2006/main">
              <a:ext uri="{FF2B5EF4-FFF2-40B4-BE49-F238E27FC236}">
                <a16:creationId xmlns:a16="http://schemas.microsoft.com/office/drawing/2014/main" id="{620627F7-8C36-4F94-8E81-F2DCA3EB1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353300"/>
            <a:ext cx="1371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檢查點  畫面能換卡，Console 沒有載入錯誤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4892451D-15E6-4B16-935A-5928010BF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0200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70808B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080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70808B"/>
                </a:solidFill>
                <a:latin typeface="Noto Sans CJK TC"/>
                <a:ea typeface="Noto Sans CJK TC"/>
                <a:cs typeface="Noto Sans CJK TC"/>
              </a:rPr>
              <a:t>10 / 40</a:t>
            </a:r>
          </a:p>
        </p:txBody>
      </p:sp>
    </p:spTree>
    <p:extLst>
      <p:ext uri="{BB962C8B-B14F-4D97-AF65-F5344CB8AC3E}">
        <p14:creationId xmlns:p14="http://schemas.microsoft.com/office/powerpoint/2010/main" val="67295389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">
            <a:extLst xmlns:a="http://schemas.openxmlformats.org/drawingml/2006/main">
              <a:ext uri="{FF2B5EF4-FFF2-40B4-BE49-F238E27FC236}">
                <a16:creationId xmlns:a16="http://schemas.microsoft.com/office/drawing/2014/main" id="{E53CC4E7-703D-407C-9268-AF3DFF20F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57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47D71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47D7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247D71"/>
                </a:solidFill>
                <a:latin typeface="Noto Sans CJK TC"/>
                <a:ea typeface="Noto Sans CJK TC"/>
                <a:cs typeface="Noto Sans CJK TC"/>
              </a:rPr>
              <a:t>讀懂程式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1F4B293-48DF-4BA9-BD9C-6D3D784FC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390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Lab 11：確認 AI 真的讀到檔案</a:t>
            </a:r>
          </a:p>
        </p:txBody>
      </p:sp>
      <p:sp>
        <p:nvSpPr>
          <p:cNvPr id="3" name="steps">
            <a:extLst xmlns:a="http://schemas.openxmlformats.org/drawingml/2006/main">
              <a:ext uri="{FF2B5EF4-FFF2-40B4-BE49-F238E27FC236}">
                <a16:creationId xmlns:a16="http://schemas.microsoft.com/office/drawing/2014/main" id="{D2092FE6-FCCE-4553-BCF4-1733B92B5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68580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先唯讀，檢查實際檔案</a:t>
            </a:r>
          </a:p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工具應指出單字所在的位置</a:t>
            </a:r>
          </a:p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自己打開 words.js 抽驗</a:t>
            </a:r>
          </a:p>
        </p:txBody>
      </p:sp>
      <p:sp>
        <p:nvSpPr>
          <p:cNvPr id="4" name="code-or-prompt">
            <a:extLst xmlns:a="http://schemas.openxmlformats.org/drawingml/2006/main">
              <a:ext uri="{FF2B5EF4-FFF2-40B4-BE49-F238E27FC236}">
                <a16:creationId xmlns:a16="http://schemas.microsoft.com/office/drawing/2014/main" id="{D182683B-642A-425A-ACDF-4A6DE737A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67000"/>
            <a:ext cx="6334125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只根據 starter 的檔案回答：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這個專案做什麼？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主要檔案各負責什麼？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單字在哪個檔案、哪個變數？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目前有幾個單字？請附證據。</a:t>
            </a:r>
          </a:p>
        </p:txBody>
      </p:sp>
      <p:sp>
        <p:nvSpPr>
          <p:cNvPr id="5" name="checkpoint">
            <a:extLst xmlns:a="http://schemas.openxmlformats.org/drawingml/2006/main">
              <a:ext uri="{FF2B5EF4-FFF2-40B4-BE49-F238E27FC236}">
                <a16:creationId xmlns:a16="http://schemas.microsoft.com/office/drawing/2014/main" id="{76C52824-869E-4893-874B-C1C5F48B8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353300"/>
            <a:ext cx="1371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檢查點  答案指向 app/words.js 的 WORDS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CA771AE-F752-4A0B-8CE1-844FA98AD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0200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70808B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080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70808B"/>
                </a:solidFill>
                <a:latin typeface="Noto Sans CJK TC"/>
                <a:ea typeface="Noto Sans CJK TC"/>
                <a:cs typeface="Noto Sans CJK TC"/>
              </a:rPr>
              <a:t>11 / 40</a:t>
            </a:r>
          </a:p>
        </p:txBody>
      </p:sp>
    </p:spTree>
    <p:extLst>
      <p:ext uri="{BB962C8B-B14F-4D97-AF65-F5344CB8AC3E}">
        <p14:creationId xmlns:p14="http://schemas.microsoft.com/office/powerpoint/2010/main" val="136524307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">
            <a:extLst xmlns:a="http://schemas.openxmlformats.org/drawingml/2006/main">
              <a:ext uri="{FF2B5EF4-FFF2-40B4-BE49-F238E27FC236}">
                <a16:creationId xmlns:a16="http://schemas.microsoft.com/office/drawing/2014/main" id="{1951A4E5-1796-44AB-B874-AE761F050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57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47D71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47D7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247D71"/>
                </a:solidFill>
                <a:latin typeface="Noto Sans CJK TC"/>
                <a:ea typeface="Noto Sans CJK TC"/>
                <a:cs typeface="Noto Sans CJK TC"/>
              </a:rPr>
              <a:t>讀懂程式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9A3506A-F078-4E5C-A882-6D66007D3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390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第一輪：專案地圖</a:t>
            </a:r>
          </a:p>
        </p:txBody>
      </p:sp>
      <p:sp>
        <p:nvSpPr>
          <p:cNvPr id="3" name="steps">
            <a:extLst xmlns:a="http://schemas.openxmlformats.org/drawingml/2006/main">
              <a:ext uri="{FF2B5EF4-FFF2-40B4-BE49-F238E27FC236}">
                <a16:creationId xmlns:a16="http://schemas.microsoft.com/office/drawing/2014/main" id="{B92EF42C-560D-4B2D-AB32-1C1B2378B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68580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只看 app/，避免混入不同 Lab</a:t>
            </a:r>
          </a:p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找出 HTML 載入哪些 JS</a:t>
            </a:r>
          </a:p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分清畫面、單字與純函式</a:t>
            </a:r>
          </a:p>
        </p:txBody>
      </p:sp>
      <p:sp>
        <p:nvSpPr>
          <p:cNvPr id="4" name="code-or-prompt">
            <a:extLst xmlns:a="http://schemas.openxmlformats.org/drawingml/2006/main">
              <a:ext uri="{FF2B5EF4-FFF2-40B4-BE49-F238E27FC236}">
                <a16:creationId xmlns:a16="http://schemas.microsoft.com/office/drawing/2014/main" id="{83F8C70C-9A59-4C71-BA4C-C06C37D39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67000"/>
            <a:ext cx="6334125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只根據目前資料夾回答，不要修改。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列出 app/ 的主要檔案與責任、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載入關係與測試入口。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每個判斷附檔名與行號。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請區分觀察與推論。</a:t>
            </a:r>
          </a:p>
        </p:txBody>
      </p:sp>
      <p:sp>
        <p:nvSpPr>
          <p:cNvPr id="5" name="checkpoint">
            <a:extLst xmlns:a="http://schemas.openxmlformats.org/drawingml/2006/main">
              <a:ext uri="{FF2B5EF4-FFF2-40B4-BE49-F238E27FC236}">
                <a16:creationId xmlns:a16="http://schemas.microsoft.com/office/drawing/2014/main" id="{11C7F50A-03D1-4E0A-974D-C231FFDF3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353300"/>
            <a:ext cx="1371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檢查點  能指出 index.html 載入 words、srs、csv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B9C5FC5E-E712-4366-8A85-FF5C59555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0200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70808B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080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70808B"/>
                </a:solidFill>
                <a:latin typeface="Noto Sans CJK TC"/>
                <a:ea typeface="Noto Sans CJK TC"/>
                <a:cs typeface="Noto Sans CJK TC"/>
              </a:rPr>
              <a:t>12 / 40</a:t>
            </a:r>
          </a:p>
        </p:txBody>
      </p:sp>
    </p:spTree>
    <p:extLst>
      <p:ext uri="{BB962C8B-B14F-4D97-AF65-F5344CB8AC3E}">
        <p14:creationId xmlns:p14="http://schemas.microsoft.com/office/powerpoint/2010/main" val="34808981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">
            <a:extLst xmlns:a="http://schemas.openxmlformats.org/drawingml/2006/main">
              <a:ext uri="{FF2B5EF4-FFF2-40B4-BE49-F238E27FC236}">
                <a16:creationId xmlns:a16="http://schemas.microsoft.com/office/drawing/2014/main" id="{620A60FD-C105-4615-A804-E044AE613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57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47D71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47D7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247D71"/>
                </a:solidFill>
                <a:latin typeface="Noto Sans CJK TC"/>
                <a:ea typeface="Noto Sans CJK TC"/>
                <a:cs typeface="Noto Sans CJK TC"/>
              </a:rPr>
              <a:t>讀懂程式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F7A7011-84D4-4637-8C3C-84BF1FA30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390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第二輪：按下「記得」之後</a:t>
            </a:r>
          </a:p>
        </p:txBody>
      </p:sp>
      <p:sp>
        <p:nvSpPr>
          <p:cNvPr id="3" name="steps">
            <a:extLst xmlns:a="http://schemas.openxmlformats.org/drawingml/2006/main">
              <a:ext uri="{FF2B5EF4-FFF2-40B4-BE49-F238E27FC236}">
                <a16:creationId xmlns:a16="http://schemas.microsoft.com/office/drawing/2014/main" id="{3F5A6B02-67F7-4D75-8BF6-10741843D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68580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只追這一個事件</a:t>
            </a:r>
          </a:p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每一步都打開程式碼核對</a:t>
            </a:r>
          </a:p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留意 queue 更新也在流程中</a:t>
            </a:r>
          </a:p>
        </p:txBody>
      </p:sp>
      <p:sp>
        <p:nvSpPr>
          <p:cNvPr id="4" name="code-or-prompt">
            <a:extLst xmlns:a="http://schemas.openxmlformats.org/drawingml/2006/main">
              <a:ext uri="{FF2B5EF4-FFF2-40B4-BE49-F238E27FC236}">
                <a16:creationId xmlns:a16="http://schemas.microsoft.com/office/drawing/2014/main" id="{84A240AA-7F48-44EA-919F-026F1ECAE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67000"/>
            <a:ext cx="6334125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追蹤 app/index.html 的 mark(true)。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資料怎樣經過 schedule、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寫回學習紀錄、save、佇列與 next？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每一步請附檔名與行號。</a:t>
            </a:r>
          </a:p>
        </p:txBody>
      </p:sp>
      <p:sp>
        <p:nvSpPr>
          <p:cNvPr id="5" name="checkpoint">
            <a:extLst xmlns:a="http://schemas.openxmlformats.org/drawingml/2006/main">
              <a:ext uri="{FF2B5EF4-FFF2-40B4-BE49-F238E27FC236}">
                <a16:creationId xmlns:a16="http://schemas.microsoft.com/office/drawing/2014/main" id="{3EE0A9ED-C721-4F94-AFDE-0E9D24DA3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353300"/>
            <a:ext cx="1371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檢查點  stateOf、schedule、save、queue、next 都有證據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61509EF6-B058-4DBB-8A23-BD98127A4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0200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70808B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080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70808B"/>
                </a:solidFill>
                <a:latin typeface="Noto Sans CJK TC"/>
                <a:ea typeface="Noto Sans CJK TC"/>
                <a:cs typeface="Noto Sans CJK TC"/>
              </a:rPr>
              <a:t>13 / 40</a:t>
            </a:r>
          </a:p>
        </p:txBody>
      </p:sp>
    </p:spTree>
    <p:extLst>
      <p:ext uri="{BB962C8B-B14F-4D97-AF65-F5344CB8AC3E}">
        <p14:creationId xmlns:p14="http://schemas.microsoft.com/office/powerpoint/2010/main" val="9930457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">
            <a:extLst xmlns:a="http://schemas.openxmlformats.org/drawingml/2006/main">
              <a:ext uri="{FF2B5EF4-FFF2-40B4-BE49-F238E27FC236}">
                <a16:creationId xmlns:a16="http://schemas.microsoft.com/office/drawing/2014/main" id="{0649CBA6-5E52-454B-83BF-C8449A23B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57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47D71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47D7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247D71"/>
                </a:solidFill>
                <a:latin typeface="Noto Sans CJK TC"/>
                <a:ea typeface="Noto Sans CJK TC"/>
                <a:cs typeface="Noto Sans CJK TC"/>
              </a:rPr>
              <a:t>讀懂程式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30DF30A-A6DD-4780-8B0B-DBFA7727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390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第三輪：為什麼傳入 today</a:t>
            </a:r>
          </a:p>
        </p:txBody>
      </p:sp>
      <p:sp>
        <p:nvSpPr>
          <p:cNvPr id="3" name="steps">
            <a:extLst xmlns:a="http://schemas.openxmlformats.org/drawingml/2006/main">
              <a:ext uri="{FF2B5EF4-FFF2-40B4-BE49-F238E27FC236}">
                <a16:creationId xmlns:a16="http://schemas.microsoft.com/office/drawing/2014/main" id="{9AB4EF92-20F2-4BE0-BBE9-20970B7F5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68580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排程函式接收數值日期</a:t>
            </a:r>
          </a:p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固定 today 可重現測試</a:t>
            </a:r>
          </a:p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代價是呼叫者要提供正確單位</a:t>
            </a:r>
          </a:p>
        </p:txBody>
      </p:sp>
      <p:sp>
        <p:nvSpPr>
          <p:cNvPr id="4" name="code-or-prompt">
            <a:extLst xmlns:a="http://schemas.openxmlformats.org/drawingml/2006/main">
              <a:ext uri="{FF2B5EF4-FFF2-40B4-BE49-F238E27FC236}">
                <a16:creationId xmlns:a16="http://schemas.microsoft.com/office/drawing/2014/main" id="{6CE685A4-92A8-417A-9DBF-4002261E8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67000"/>
            <a:ext cx="6334125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為什麼 schedule(box, ok, today)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由外部傳入 today？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用 srs.js 與 test_srs.js 的證據回答。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程式裡的 today 以什麼單位表示？</a:t>
            </a:r>
          </a:p>
        </p:txBody>
      </p:sp>
      <p:sp>
        <p:nvSpPr>
          <p:cNvPr id="5" name="checkpoint">
            <a:extLst xmlns:a="http://schemas.openxmlformats.org/drawingml/2006/main">
              <a:ext uri="{FF2B5EF4-FFF2-40B4-BE49-F238E27FC236}">
                <a16:creationId xmlns:a16="http://schemas.microsoft.com/office/drawing/2014/main" id="{CDD8C8FD-C9B0-4FDF-8DB7-0B255EE1E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353300"/>
            <a:ext cx="1371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檢查點  能用 today=100 解釋 due=102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C5AB693B-E35C-4611-9A66-D388C3B4F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0200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70808B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080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70808B"/>
                </a:solidFill>
                <a:latin typeface="Noto Sans CJK TC"/>
                <a:ea typeface="Noto Sans CJK TC"/>
                <a:cs typeface="Noto Sans CJK TC"/>
              </a:rPr>
              <a:t>14 / 40</a:t>
            </a:r>
          </a:p>
        </p:txBody>
      </p:sp>
    </p:spTree>
    <p:extLst>
      <p:ext uri="{BB962C8B-B14F-4D97-AF65-F5344CB8AC3E}">
        <p14:creationId xmlns:p14="http://schemas.microsoft.com/office/powerpoint/2010/main" val="117218346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">
            <a:extLst xmlns:a="http://schemas.openxmlformats.org/drawingml/2006/main">
              <a:ext uri="{FF2B5EF4-FFF2-40B4-BE49-F238E27FC236}">
                <a16:creationId xmlns:a16="http://schemas.microsoft.com/office/drawing/2014/main" id="{1F4294CA-D4EC-4679-B2E8-9F977CEC7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57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47D71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47D7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247D71"/>
                </a:solidFill>
                <a:latin typeface="Noto Sans CJK TC"/>
                <a:ea typeface="Noto Sans CJK TC"/>
                <a:cs typeface="Noto Sans CJK TC"/>
              </a:rPr>
              <a:t>讀懂程式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415E12C-80CA-4D08-A5CB-BD147A436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390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行號抽驗與錯誤修正</a:t>
            </a:r>
          </a:p>
        </p:txBody>
      </p:sp>
      <p:sp>
        <p:nvSpPr>
          <p:cNvPr id="3" name="steps">
            <a:extLst xmlns:a="http://schemas.openxmlformats.org/drawingml/2006/main">
              <a:ext uri="{FF2B5EF4-FFF2-40B4-BE49-F238E27FC236}">
                <a16:creationId xmlns:a16="http://schemas.microsoft.com/office/drawing/2014/main" id="{8CF07533-8CC6-4DD4-B0C0-2777DA6B8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68580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選 AI 回答中的兩個行號</a:t>
            </a:r>
          </a:p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Ctrl+G 跳到原始碼</a:t>
            </a:r>
          </a:p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核對函式、條件與實際資料</a:t>
            </a:r>
          </a:p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記下一條更正後的說法</a:t>
            </a:r>
          </a:p>
        </p:txBody>
      </p:sp>
      <p:sp>
        <p:nvSpPr>
          <p:cNvPr id="4" name="code-or-prompt">
            <a:extLst xmlns:a="http://schemas.openxmlformats.org/drawingml/2006/main">
              <a:ext uri="{FF2B5EF4-FFF2-40B4-BE49-F238E27FC236}">
                <a16:creationId xmlns:a16="http://schemas.microsoft.com/office/drawing/2014/main" id="{886213FC-71AA-4651-AD59-FAD5DD089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67000"/>
            <a:ext cx="6334125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常見錯誤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把不同 Lab 的行號混在一起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憑空說有後端資料庫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漏掉 queue 的更新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把天數誤當毫秒</a:t>
            </a:r>
          </a:p>
        </p:txBody>
      </p:sp>
      <p:sp>
        <p:nvSpPr>
          <p:cNvPr id="5" name="checkpoint">
            <a:extLst xmlns:a="http://schemas.openxmlformats.org/drawingml/2006/main">
              <a:ext uri="{FF2B5EF4-FFF2-40B4-BE49-F238E27FC236}">
                <a16:creationId xmlns:a16="http://schemas.microsoft.com/office/drawing/2014/main" id="{C4E88130-C836-4EAF-9FDB-8FC3A9C37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353300"/>
            <a:ext cx="1371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檢查點  每個關鍵結論至少有一項可開啟的證據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3E6CEA8F-B859-4D7B-A06F-5E7EB10C0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0200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70808B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080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70808B"/>
                </a:solidFill>
                <a:latin typeface="Noto Sans CJK TC"/>
                <a:ea typeface="Noto Sans CJK TC"/>
                <a:cs typeface="Noto Sans CJK TC"/>
              </a:rPr>
              <a:t>15 / 40</a:t>
            </a:r>
          </a:p>
        </p:txBody>
      </p:sp>
    </p:spTree>
    <p:extLst>
      <p:ext uri="{BB962C8B-B14F-4D97-AF65-F5344CB8AC3E}">
        <p14:creationId xmlns:p14="http://schemas.microsoft.com/office/powerpoint/2010/main" val="19678453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">
            <a:extLst xmlns:a="http://schemas.openxmlformats.org/drawingml/2006/main">
              <a:ext uri="{FF2B5EF4-FFF2-40B4-BE49-F238E27FC236}">
                <a16:creationId xmlns:a16="http://schemas.microsoft.com/office/drawing/2014/main" id="{E1D4D1FF-FC50-4400-82BB-BF26D515B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57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47D71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47D7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247D71"/>
                </a:solidFill>
                <a:latin typeface="Noto Sans CJK TC"/>
                <a:ea typeface="Noto Sans CJK TC"/>
                <a:cs typeface="Noto Sans CJK TC"/>
              </a:rPr>
              <a:t>專案規則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64380D4-5B10-42EF-A3AE-B789AAB21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390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Lab 12：一份可驗證的專案規則</a:t>
            </a:r>
          </a:p>
        </p:txBody>
      </p:sp>
      <p:sp>
        <p:nvSpPr>
          <p:cNvPr id="3" name="steps">
            <a:extLst xmlns:a="http://schemas.openxmlformats.org/drawingml/2006/main">
              <a:ext uri="{FF2B5EF4-FFF2-40B4-BE49-F238E27FC236}">
                <a16:creationId xmlns:a16="http://schemas.microsoft.com/office/drawing/2014/main" id="{E8B2036C-0E26-4133-AB3C-AC9A7D0B1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68580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補齊 PROJECT_RULES.md</a:t>
            </a:r>
          </a:p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記錄執行命令與測試命令</a:t>
            </a:r>
          </a:p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限制修改範圍與不自動推送</a:t>
            </a:r>
          </a:p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固定記號：// 用途：</a:t>
            </a:r>
          </a:p>
        </p:txBody>
      </p:sp>
      <p:sp>
        <p:nvSpPr>
          <p:cNvPr id="4" name="code-or-prompt">
            <a:extLst xmlns:a="http://schemas.openxmlformats.org/drawingml/2006/main">
              <a:ext uri="{FF2B5EF4-FFF2-40B4-BE49-F238E27FC236}">
                <a16:creationId xmlns:a16="http://schemas.microsoft.com/office/drawing/2014/main" id="{3D4AE021-B05B-4885-A5E0-F3870F60E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67000"/>
            <a:ext cx="6334125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這是什麼專案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怎麼啟動與測試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檔案與程式慣例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每次修改的驗收流程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不能做的事</a:t>
            </a:r>
          </a:p>
        </p:txBody>
      </p:sp>
      <p:sp>
        <p:nvSpPr>
          <p:cNvPr id="5" name="checkpoint">
            <a:extLst xmlns:a="http://schemas.openxmlformats.org/drawingml/2006/main">
              <a:ext uri="{FF2B5EF4-FFF2-40B4-BE49-F238E27FC236}">
                <a16:creationId xmlns:a16="http://schemas.microsoft.com/office/drawing/2014/main" id="{7BC4003D-934B-4437-A483-7CACBDE8D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353300"/>
            <a:ext cx="1371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檢查點  規則描述的是本次 starter/app 的實際情況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F9C4423F-0097-4141-BC2F-D86C992D7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0200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70808B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080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70808B"/>
                </a:solidFill>
                <a:latin typeface="Noto Sans CJK TC"/>
                <a:ea typeface="Noto Sans CJK TC"/>
                <a:cs typeface="Noto Sans CJK TC"/>
              </a:rPr>
              <a:t>16 / 40</a:t>
            </a:r>
          </a:p>
        </p:txBody>
      </p:sp>
    </p:spTree>
    <p:extLst>
      <p:ext uri="{BB962C8B-B14F-4D97-AF65-F5344CB8AC3E}">
        <p14:creationId xmlns:p14="http://schemas.microsoft.com/office/powerpoint/2010/main" val="41255975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">
            <a:extLst xmlns:a="http://schemas.openxmlformats.org/drawingml/2006/main">
              <a:ext uri="{FF2B5EF4-FFF2-40B4-BE49-F238E27FC236}">
                <a16:creationId xmlns:a16="http://schemas.microsoft.com/office/drawing/2014/main" id="{2D432D53-7BF8-4B5B-B1A2-3DD65B703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57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47D71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47D7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247D71"/>
                </a:solidFill>
                <a:latin typeface="Noto Sans CJK TC"/>
                <a:ea typeface="Noto Sans CJK TC"/>
                <a:cs typeface="Noto Sans CJK TC"/>
              </a:rPr>
              <a:t>專案規則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3BF9175-B612-4CAA-88D4-C6C3332E4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390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指示檔對照實驗</a:t>
            </a:r>
          </a:p>
        </p:txBody>
      </p:sp>
      <p:sp>
        <p:nvSpPr>
          <p:cNvPr id="3" name="steps">
            <a:extLst xmlns:a="http://schemas.openxmlformats.org/drawingml/2006/main">
              <a:ext uri="{FF2B5EF4-FFF2-40B4-BE49-F238E27FC236}">
                <a16:creationId xmlns:a16="http://schemas.microsoft.com/office/drawing/2014/main" id="{7149E762-CA3A-4519-A791-9E75C3F8F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68580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A：新對話，不額外提供規則</a:t>
            </a:r>
          </a:p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B：相同起點，新對話，提供規則</a:t>
            </a:r>
          </a:p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兩邊提出相同的新函式請求</a:t>
            </a:r>
          </a:p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比較固定記號與測試是否出現</a:t>
            </a:r>
          </a:p>
        </p:txBody>
      </p:sp>
      <p:sp>
        <p:nvSpPr>
          <p:cNvPr id="4" name="code-or-prompt">
            <a:extLst xmlns:a="http://schemas.openxmlformats.org/drawingml/2006/main">
              <a:ext uri="{FF2B5EF4-FFF2-40B4-BE49-F238E27FC236}">
                <a16:creationId xmlns:a16="http://schemas.microsoft.com/office/drawing/2014/main" id="{8A1708A3-FBB6-43A4-9F43-D2B874040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67000"/>
            <a:ext cx="6334125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請新增純函式 countDue 的計畫。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先不要改檔。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說明你會讀哪些檔案、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函式上方會放什麼註解、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以及修改後會跑什麼測試。</a:t>
            </a:r>
          </a:p>
        </p:txBody>
      </p:sp>
      <p:sp>
        <p:nvSpPr>
          <p:cNvPr id="5" name="checkpoint">
            <a:extLst xmlns:a="http://schemas.openxmlformats.org/drawingml/2006/main">
              <a:ext uri="{FF2B5EF4-FFF2-40B4-BE49-F238E27FC236}">
                <a16:creationId xmlns:a16="http://schemas.microsoft.com/office/drawing/2014/main" id="{84CF1A3F-9AAF-4FD9-9310-43FFE8721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353300"/>
            <a:ext cx="1371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檢查點  只比較規則是否遵守，不預設 B 一定更好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7F44CAA5-1BE6-472E-8A94-5BAC8A274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0200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70808B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080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70808B"/>
                </a:solidFill>
                <a:latin typeface="Noto Sans CJK TC"/>
                <a:ea typeface="Noto Sans CJK TC"/>
                <a:cs typeface="Noto Sans CJK TC"/>
              </a:rPr>
              <a:t>17 / 40</a:t>
            </a:r>
          </a:p>
        </p:txBody>
      </p:sp>
    </p:spTree>
    <p:extLst>
      <p:ext uri="{BB962C8B-B14F-4D97-AF65-F5344CB8AC3E}">
        <p14:creationId xmlns:p14="http://schemas.microsoft.com/office/powerpoint/2010/main" val="32414653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">
            <a:extLst xmlns:a="http://schemas.openxmlformats.org/drawingml/2006/main">
              <a:ext uri="{FF2B5EF4-FFF2-40B4-BE49-F238E27FC236}">
                <a16:creationId xmlns:a16="http://schemas.microsoft.com/office/drawing/2014/main" id="{2BB30536-3045-4152-A1E6-B0E3BDC3E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57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47D71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47D7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247D71"/>
                </a:solidFill>
                <a:latin typeface="Noto Sans CJK TC"/>
                <a:ea typeface="Noto Sans CJK TC"/>
                <a:cs typeface="Noto Sans CJK TC"/>
              </a:rPr>
              <a:t>VS Code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BAF7908-0B4C-4233-9B3B-760AE6999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390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第一個修改：三個單字</a:t>
            </a:r>
          </a:p>
        </p:txBody>
      </p:sp>
      <p:sp>
        <p:nvSpPr>
          <p:cNvPr id="3" name="steps">
            <a:extLst xmlns:a="http://schemas.openxmlformats.org/drawingml/2006/main">
              <a:ext uri="{FF2B5EF4-FFF2-40B4-BE49-F238E27FC236}">
                <a16:creationId xmlns:a16="http://schemas.microsoft.com/office/drawing/2014/main" id="{8510055F-0A26-4AFE-A30F-5C5B69CE3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68580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先計畫，再回覆「執行」</a:t>
            </a:r>
          </a:p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只動 app/words.js</a:t>
            </a:r>
          </a:p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保留所有既有資料與匯出</a:t>
            </a:r>
          </a:p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加過的字不重複</a:t>
            </a:r>
          </a:p>
        </p:txBody>
      </p:sp>
      <p:sp>
        <p:nvSpPr>
          <p:cNvPr id="4" name="code-or-prompt">
            <a:extLst xmlns:a="http://schemas.openxmlformats.org/drawingml/2006/main">
              <a:ext uri="{FF2B5EF4-FFF2-40B4-BE49-F238E27FC236}">
                <a16:creationId xmlns:a16="http://schemas.microsoft.com/office/drawing/2014/main" id="{6D206C44-D629-4BEE-B1F8-562E0EC6D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67000"/>
            <a:ext cx="6334125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新增 loop=迴圈、variable=變數、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debug=除錯，已有就跳過。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先讀 words.js 與 check_words.js。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先列計畫，等我確認才改。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改完執行 node check_words.js。</a:t>
            </a:r>
          </a:p>
        </p:txBody>
      </p:sp>
      <p:sp>
        <p:nvSpPr>
          <p:cNvPr id="5" name="checkpoint">
            <a:extLst xmlns:a="http://schemas.openxmlformats.org/drawingml/2006/main">
              <a:ext uri="{FF2B5EF4-FFF2-40B4-BE49-F238E27FC236}">
                <a16:creationId xmlns:a16="http://schemas.microsoft.com/office/drawing/2014/main" id="{7FFAE84E-4122-499C-855E-A887BBAAE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353300"/>
            <a:ext cx="1371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檢查點  這份起點由18字變成21字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4E03B59F-A6D2-43DB-BB80-81BD2175A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0200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70808B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080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70808B"/>
                </a:solidFill>
                <a:latin typeface="Noto Sans CJK TC"/>
                <a:ea typeface="Noto Sans CJK TC"/>
                <a:cs typeface="Noto Sans CJK TC"/>
              </a:rPr>
              <a:t>18 / 40</a:t>
            </a:r>
          </a:p>
        </p:txBody>
      </p:sp>
    </p:spTree>
    <p:extLst>
      <p:ext uri="{BB962C8B-B14F-4D97-AF65-F5344CB8AC3E}">
        <p14:creationId xmlns:p14="http://schemas.microsoft.com/office/powerpoint/2010/main" val="17535949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">
            <a:extLst xmlns:a="http://schemas.openxmlformats.org/drawingml/2006/main">
              <a:ext uri="{FF2B5EF4-FFF2-40B4-BE49-F238E27FC236}">
                <a16:creationId xmlns:a16="http://schemas.microsoft.com/office/drawing/2014/main" id="{2DF1315E-68FB-4D25-ACFB-AE88CE2B6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57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47D71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47D7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247D71"/>
                </a:solidFill>
                <a:latin typeface="Noto Sans CJK TC"/>
                <a:ea typeface="Noto Sans CJK TC"/>
                <a:cs typeface="Noto Sans CJK TC"/>
              </a:rPr>
              <a:t>VS Code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28D9A4E-4B1E-47B9-95F6-3043877F7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390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單字修改的驗收</a:t>
            </a:r>
          </a:p>
        </p:txBody>
      </p:sp>
      <p:sp>
        <p:nvSpPr>
          <p:cNvPr id="3" name="steps">
            <a:extLst xmlns:a="http://schemas.openxmlformats.org/drawingml/2006/main">
              <a:ext uri="{FF2B5EF4-FFF2-40B4-BE49-F238E27FC236}">
                <a16:creationId xmlns:a16="http://schemas.microsoft.com/office/drawing/2014/main" id="{349F8B40-ED4B-4DC7-8B05-D264F624E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68580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自己開 diff 看三筆資料</a:t>
            </a:r>
          </a:p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跑 check_words.js</a:t>
            </a:r>
          </a:p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重新整理畫面與檢查 Console</a:t>
            </a:r>
          </a:p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已快取時清除 SW/cache 再重載</a:t>
            </a:r>
          </a:p>
        </p:txBody>
      </p:sp>
      <p:sp>
        <p:nvSpPr>
          <p:cNvPr id="4" name="code-or-prompt">
            <a:extLst xmlns:a="http://schemas.openxmlformats.org/drawingml/2006/main">
              <a:ext uri="{FF2B5EF4-FFF2-40B4-BE49-F238E27FC236}">
                <a16:creationId xmlns:a16="http://schemas.microsoft.com/office/drawing/2014/main" id="{5EA6E04B-F079-4F79-9DD6-0A5FD1892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67000"/>
            <a:ext cx="6334125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在 app/ 執行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node check_words.js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在 starter/ 執行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git diff -- app/words.js</a:t>
            </a:r>
          </a:p>
        </p:txBody>
      </p:sp>
      <p:sp>
        <p:nvSpPr>
          <p:cNvPr id="5" name="checkpoint">
            <a:extLst xmlns:a="http://schemas.openxmlformats.org/drawingml/2006/main">
              <a:ext uri="{FF2B5EF4-FFF2-40B4-BE49-F238E27FC236}">
                <a16:creationId xmlns:a16="http://schemas.microsoft.com/office/drawing/2014/main" id="{469C1A40-093E-42D7-9D85-DACB6B72C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353300"/>
            <a:ext cx="1371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檢查點  只有預期單字改動，原本單字都保留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01D1C532-D2DE-4EB9-A689-5EEA266A1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0200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70808B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080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70808B"/>
                </a:solidFill>
                <a:latin typeface="Noto Sans CJK TC"/>
                <a:ea typeface="Noto Sans CJK TC"/>
                <a:cs typeface="Noto Sans CJK TC"/>
              </a:rPr>
              <a:t>19 / 40</a:t>
            </a:r>
          </a:p>
        </p:txBody>
      </p:sp>
    </p:spTree>
    <p:extLst>
      <p:ext uri="{BB962C8B-B14F-4D97-AF65-F5344CB8AC3E}">
        <p14:creationId xmlns:p14="http://schemas.microsoft.com/office/powerpoint/2010/main" val="24703799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112D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">
            <a:extLst xmlns:a="http://schemas.openxmlformats.org/drawingml/2006/main">
              <a:ext uri="{FF2B5EF4-FFF2-40B4-BE49-F238E27FC236}">
                <a16:creationId xmlns:a16="http://schemas.microsoft.com/office/drawing/2014/main" id="{58A370B6-E012-49C5-A602-8D99C2B9F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57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8FD5C0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8FD5C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8FD5C0"/>
                </a:solidFill>
                <a:latin typeface="Noto Sans CJK TC"/>
                <a:ea typeface="Noto Sans CJK TC"/>
                <a:cs typeface="Noto Sans CJK TC"/>
              </a:rPr>
              <a:t>操作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D39680C-382D-437F-B17C-4ACDA4535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390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休息 10 分鐘</a:t>
            </a:r>
          </a:p>
        </p:txBody>
      </p:sp>
      <p:sp>
        <p:nvSpPr>
          <p:cNvPr id="3" name="main-copy">
            <a:extLst xmlns:a="http://schemas.openxmlformats.org/drawingml/2006/main">
              <a:ext uri="{FF2B5EF4-FFF2-40B4-BE49-F238E27FC236}">
                <a16:creationId xmlns:a16="http://schemas.microsoft.com/office/drawing/2014/main" id="{D2C3EF75-4CE6-479D-A7B8-85BCBB51C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2250"/>
            <a:ext cx="81915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10:30–10:40</a:t>
            </a:r>
          </a:p>
          <a:p xmlns:a="http://schemas.openxmlformats.org/drawingml/2006/main">
            <a:pPr>
              <a:defRPr sz="255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保留目前程式與測試輸出</a:t>
            </a:r>
          </a:p>
          <a:p xmlns:a="http://schemas.openxmlformats.org/drawingml/2006/main">
            <a:pPr>
              <a:defRPr sz="255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未完成者請助教看完整錯誤訊息</a:t>
            </a:r>
          </a:p>
        </p:txBody>
      </p:sp>
      <p:sp>
        <p:nvSpPr>
          <p:cNvPr id="4" name="side-copy">
            <a:extLst xmlns:a="http://schemas.openxmlformats.org/drawingml/2006/main">
              <a:ext uri="{FF2B5EF4-FFF2-40B4-BE49-F238E27FC236}">
                <a16:creationId xmlns:a16="http://schemas.microsoft.com/office/drawing/2014/main" id="{24BA77F8-261F-4195-9718-36709AE90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762250"/>
            <a:ext cx="5048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0">
                <a:solidFill>
                  <a:srgbClr val="8FD5C0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8FD5C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0">
                <a:solidFill>
                  <a:srgbClr val="8FD5C0"/>
                </a:solidFill>
                <a:latin typeface="Noto Sans CJK TC"/>
                <a:ea typeface="Noto Sans CJK TC"/>
                <a:cs typeface="Noto Sans CJK TC"/>
              </a:rPr>
              <a:t>下一段</a:t>
            </a:r>
          </a:p>
          <a:p xmlns:a="http://schemas.openxmlformats.org/drawingml/2006/main">
            <a:pPr>
              <a:defRPr sz="2550" b="0">
                <a:solidFill>
                  <a:srgbClr val="8FD5C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0">
                <a:solidFill>
                  <a:srgbClr val="8FD5C0"/>
                </a:solidFill>
                <a:latin typeface="Noto Sans CJK TC"/>
                <a:ea typeface="Noto Sans CJK TC"/>
                <a:cs typeface="Noto Sans CJK TC"/>
              </a:rPr>
              <a:t>新增可測試的到期計數</a:t>
            </a:r>
          </a:p>
          <a:p xmlns:a="http://schemas.openxmlformats.org/drawingml/2006/main">
            <a:pPr>
              <a:defRPr sz="2550" b="0">
                <a:solidFill>
                  <a:srgbClr val="8FD5C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0">
                <a:solidFill>
                  <a:srgbClr val="8FD5C0"/>
                </a:solidFill>
                <a:latin typeface="Noto Sans CJK TC"/>
                <a:ea typeface="Noto Sans CJK TC"/>
                <a:cs typeface="Noto Sans CJK TC"/>
              </a:rPr>
              <a:t>一個條件，一組邊界案例</a:t>
            </a:r>
          </a:p>
        </p:txBody>
      </p:sp>
      <p:sp>
        <p:nvSpPr>
          <p:cNvPr id="5" name="checkpoint">
            <a:extLst xmlns:a="http://schemas.openxmlformats.org/drawingml/2006/main">
              <a:ext uri="{FF2B5EF4-FFF2-40B4-BE49-F238E27FC236}">
                <a16:creationId xmlns:a16="http://schemas.microsoft.com/office/drawing/2014/main" id="{1F187C04-1358-4A57-A729-3970568C2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353300"/>
            <a:ext cx="1371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8FD5C0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8FD5C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8FD5C0"/>
                </a:solidFill>
                <a:latin typeface="Noto Sans CJK TC"/>
                <a:ea typeface="Noto Sans CJK TC"/>
                <a:cs typeface="Noto Sans CJK TC"/>
              </a:rPr>
              <a:t>檢查點  回來時終端機與 VS Code 都留在 starter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8A374E05-0FB0-4560-A7F5-8DF7B2AFC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0200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C7D6DB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C7D6D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C7D6DB"/>
                </a:solidFill>
                <a:latin typeface="Noto Sans CJK TC"/>
                <a:ea typeface="Noto Sans CJK TC"/>
                <a:cs typeface="Noto Sans CJK TC"/>
              </a:rPr>
              <a:t>20 / 40</a:t>
            </a:r>
          </a:p>
        </p:txBody>
      </p:sp>
    </p:spTree>
    <p:extLst>
      <p:ext uri="{BB962C8B-B14F-4D97-AF65-F5344CB8AC3E}">
        <p14:creationId xmlns:p14="http://schemas.microsoft.com/office/powerpoint/2010/main" val="32443755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">
            <a:extLst xmlns:a="http://schemas.openxmlformats.org/drawingml/2006/main">
              <a:ext uri="{FF2B5EF4-FFF2-40B4-BE49-F238E27FC236}">
                <a16:creationId xmlns:a16="http://schemas.microsoft.com/office/drawing/2014/main" id="{C721D8F8-5E00-470D-B5F2-A6D384834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57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47D71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47D7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247D71"/>
                </a:solidFill>
                <a:latin typeface="Noto Sans CJK TC"/>
                <a:ea typeface="Noto Sans CJK TC"/>
                <a:cs typeface="Noto Sans CJK TC"/>
              </a:rPr>
              <a:t>規格與測試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AE9014D-1FE2-4C7B-AA7A-2BB49C69E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390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第二個修改：countDue 規格</a:t>
            </a:r>
          </a:p>
        </p:txBody>
      </p:sp>
      <p:sp>
        <p:nvSpPr>
          <p:cNvPr id="3" name="steps">
            <a:extLst xmlns:a="http://schemas.openxmlformats.org/drawingml/2006/main">
              <a:ext uri="{FF2B5EF4-FFF2-40B4-BE49-F238E27FC236}">
                <a16:creationId xmlns:a16="http://schemas.microsoft.com/office/drawing/2014/main" id="{0C67578E-465F-4F14-A233-B3783AC39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68580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輸入：states，每筆有數值 due</a:t>
            </a:r>
          </a:p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輸入：today，有限數值</a:t>
            </a:r>
          </a:p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輸出：due &lt;= today 的筆數</a:t>
            </a:r>
          </a:p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不改輸入，不讀時鐘</a:t>
            </a:r>
          </a:p>
        </p:txBody>
      </p:sp>
      <p:sp>
        <p:nvSpPr>
          <p:cNvPr id="4" name="code-or-prompt">
            <a:extLst xmlns:a="http://schemas.openxmlformats.org/drawingml/2006/main">
              <a:ext uri="{FF2B5EF4-FFF2-40B4-BE49-F238E27FC236}">
                <a16:creationId xmlns:a16="http://schemas.microsoft.com/office/drawing/2014/main" id="{36BECE01-6EB1-4922-921E-C256769BC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67000"/>
            <a:ext cx="6334125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today = 100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states = [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  { due: 99 },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  { due: 100 },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  { due: 101 }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預期回傳：2</a:t>
            </a:r>
          </a:p>
        </p:txBody>
      </p:sp>
      <p:sp>
        <p:nvSpPr>
          <p:cNvPr id="5" name="checkpoint">
            <a:extLst xmlns:a="http://schemas.openxmlformats.org/drawingml/2006/main">
              <a:ext uri="{FF2B5EF4-FFF2-40B4-BE49-F238E27FC236}">
                <a16:creationId xmlns:a16="http://schemas.microsoft.com/office/drawing/2014/main" id="{4D5484AE-04F6-4D23-974C-654DC67C1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353300"/>
            <a:ext cx="1371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檢查點  今天到期也要算，條件是 &lt;=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73B26E1C-F206-40BE-B2AC-A2EA1C1A1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0200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70808B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080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70808B"/>
                </a:solidFill>
                <a:latin typeface="Noto Sans CJK TC"/>
                <a:ea typeface="Noto Sans CJK TC"/>
                <a:cs typeface="Noto Sans CJK TC"/>
              </a:rPr>
              <a:t>21 / 40</a:t>
            </a:r>
          </a:p>
        </p:txBody>
      </p:sp>
    </p:spTree>
    <p:extLst>
      <p:ext uri="{BB962C8B-B14F-4D97-AF65-F5344CB8AC3E}">
        <p14:creationId xmlns:p14="http://schemas.microsoft.com/office/powerpoint/2010/main" val="87374881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">
            <a:extLst xmlns:a="http://schemas.openxmlformats.org/drawingml/2006/main">
              <a:ext uri="{FF2B5EF4-FFF2-40B4-BE49-F238E27FC236}">
                <a16:creationId xmlns:a16="http://schemas.microsoft.com/office/drawing/2014/main" id="{0A01D0AB-EDB5-4321-914B-89A3FCFFD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57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47D71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47D7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247D71"/>
                </a:solidFill>
                <a:latin typeface="Noto Sans CJK TC"/>
                <a:ea typeface="Noto Sans CJK TC"/>
                <a:cs typeface="Noto Sans CJK TC"/>
              </a:rPr>
              <a:t>規格與測試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CAC4A6A-F21B-4769-B074-980CAFEDB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390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countDue 的修改計畫</a:t>
            </a:r>
          </a:p>
        </p:txBody>
      </p:sp>
      <p:sp>
        <p:nvSpPr>
          <p:cNvPr id="3" name="steps">
            <a:extLst xmlns:a="http://schemas.openxmlformats.org/drawingml/2006/main">
              <a:ext uri="{FF2B5EF4-FFF2-40B4-BE49-F238E27FC236}">
                <a16:creationId xmlns:a16="http://schemas.microsoft.com/office/drawing/2014/main" id="{DAC623DA-A7C3-4D6F-B004-123B87AB3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68580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只新增函式與匯出</a:t>
            </a:r>
          </a:p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保留 schedule 與 INTERVALS</a:t>
            </a:r>
          </a:p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新增 test_count_due.js</a:t>
            </a:r>
          </a:p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暫不接 UI</a:t>
            </a:r>
          </a:p>
        </p:txBody>
      </p:sp>
      <p:sp>
        <p:nvSpPr>
          <p:cNvPr id="4" name="code-or-prompt">
            <a:extLst xmlns:a="http://schemas.openxmlformats.org/drawingml/2006/main">
              <a:ext uri="{FF2B5EF4-FFF2-40B4-BE49-F238E27FC236}">
                <a16:creationId xmlns:a16="http://schemas.microsoft.com/office/drawing/2014/main" id="{D6491A74-4AA9-4550-9DBB-BAD0293C1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67000"/>
            <a:ext cx="6334125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請在 app/srs.js 新增 countDue。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只接收 states 與 today，計算 due &lt;= today。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不改輸入、不讀時鐘、不改 schedule。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每個新函式前加 // 用途：。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請先列計畫與測試案例，等我確認。</a:t>
            </a:r>
          </a:p>
        </p:txBody>
      </p:sp>
      <p:sp>
        <p:nvSpPr>
          <p:cNvPr id="5" name="checkpoint">
            <a:extLst xmlns:a="http://schemas.openxmlformats.org/drawingml/2006/main">
              <a:ext uri="{FF2B5EF4-FFF2-40B4-BE49-F238E27FC236}">
                <a16:creationId xmlns:a16="http://schemas.microsoft.com/office/drawing/2014/main" id="{D2053D3C-F23B-44B4-AA30-B21BE8CF8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353300"/>
            <a:ext cx="1371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檢查點  能用自己的話說明預計修改的兩個檔案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ED21CF1-52BA-4670-A76A-FAEB6F7A4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0200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70808B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080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70808B"/>
                </a:solidFill>
                <a:latin typeface="Noto Sans CJK TC"/>
                <a:ea typeface="Noto Sans CJK TC"/>
                <a:cs typeface="Noto Sans CJK TC"/>
              </a:rPr>
              <a:t>22 / 40</a:t>
            </a:r>
          </a:p>
        </p:txBody>
      </p:sp>
    </p:spTree>
    <p:extLst>
      <p:ext uri="{BB962C8B-B14F-4D97-AF65-F5344CB8AC3E}">
        <p14:creationId xmlns:p14="http://schemas.microsoft.com/office/powerpoint/2010/main" val="75522050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">
            <a:extLst xmlns:a="http://schemas.openxmlformats.org/drawingml/2006/main">
              <a:ext uri="{FF2B5EF4-FFF2-40B4-BE49-F238E27FC236}">
                <a16:creationId xmlns:a16="http://schemas.microsoft.com/office/drawing/2014/main" id="{2C25A990-C546-49DC-85D6-EC6C80F4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57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47D71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47D7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247D71"/>
                </a:solidFill>
                <a:latin typeface="Noto Sans CJK TC"/>
                <a:ea typeface="Noto Sans CJK TC"/>
                <a:cs typeface="Noto Sans CJK TC"/>
              </a:rPr>
              <a:t>規格與測試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749A301-A670-4D35-AB17-673EBBA40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390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邊界測試的預期結果</a:t>
            </a:r>
          </a:p>
        </p:txBody>
      </p:sp>
      <p:sp>
        <p:nvSpPr>
          <p:cNvPr id="3" name="steps">
            <a:extLst xmlns:a="http://schemas.openxmlformats.org/drawingml/2006/main">
              <a:ext uri="{FF2B5EF4-FFF2-40B4-BE49-F238E27FC236}">
                <a16:creationId xmlns:a16="http://schemas.microsoft.com/office/drawing/2014/main" id="{24CA23E1-8F35-40A3-BFCC-695359E86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68580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空陣列：0</a:t>
            </a:r>
          </a:p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99、100、101；today=100：2</a:t>
            </a:r>
          </a:p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101、102；today=100：0</a:t>
            </a:r>
          </a:p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重跑相同輸入：結果相同</a:t>
            </a:r>
          </a:p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呼叫前後：輸入保持不變</a:t>
            </a:r>
          </a:p>
        </p:txBody>
      </p:sp>
      <p:sp>
        <p:nvSpPr>
          <p:cNvPr id="4" name="code-or-prompt">
            <a:extLst xmlns:a="http://schemas.openxmlformats.org/drawingml/2006/main">
              <a:ext uri="{FF2B5EF4-FFF2-40B4-BE49-F238E27FC236}">
                <a16:creationId xmlns:a16="http://schemas.microsoft.com/office/drawing/2014/main" id="{9E03EBC1-1220-45BC-8E1C-B7033A959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67000"/>
            <a:ext cx="6334125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const { countDue } = require("./srs.js");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countDue([], 100)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// 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countDue([{due:100}], 100)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// 1</a:t>
            </a:r>
          </a:p>
        </p:txBody>
      </p:sp>
      <p:sp>
        <p:nvSpPr>
          <p:cNvPr id="5" name="checkpoint">
            <a:extLst xmlns:a="http://schemas.openxmlformats.org/drawingml/2006/main">
              <a:ext uri="{FF2B5EF4-FFF2-40B4-BE49-F238E27FC236}">
                <a16:creationId xmlns:a16="http://schemas.microsoft.com/office/drawing/2014/main" id="{23AAD948-4860-4EC6-B1EA-CC19336BD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353300"/>
            <a:ext cx="1371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檢查點  先寫下預期結果，再執行程式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61467248-D6F5-4EB6-81DE-BF04ECF15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0200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70808B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080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70808B"/>
                </a:solidFill>
                <a:latin typeface="Noto Sans CJK TC"/>
                <a:ea typeface="Noto Sans CJK TC"/>
                <a:cs typeface="Noto Sans CJK TC"/>
              </a:rPr>
              <a:t>23 / 40</a:t>
            </a:r>
          </a:p>
        </p:txBody>
      </p:sp>
    </p:spTree>
    <p:extLst>
      <p:ext uri="{BB962C8B-B14F-4D97-AF65-F5344CB8AC3E}">
        <p14:creationId xmlns:p14="http://schemas.microsoft.com/office/powerpoint/2010/main" val="90949257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">
            <a:extLst xmlns:a="http://schemas.openxmlformats.org/drawingml/2006/main">
              <a:ext uri="{FF2B5EF4-FFF2-40B4-BE49-F238E27FC236}">
                <a16:creationId xmlns:a16="http://schemas.microsoft.com/office/drawing/2014/main" id="{B3744CFE-D6DC-4F6E-B503-897D43EC8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57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47D71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47D7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247D71"/>
                </a:solidFill>
                <a:latin typeface="Noto Sans CJK TC"/>
                <a:ea typeface="Noto Sans CJK TC"/>
                <a:cs typeface="Noto Sans CJK TC"/>
              </a:rPr>
              <a:t>規格與測試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546F2B0-CCCC-48B2-A6B0-F3BBBE200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390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原始測試與新測試一起跑</a:t>
            </a:r>
          </a:p>
        </p:txBody>
      </p:sp>
      <p:sp>
        <p:nvSpPr>
          <p:cNvPr id="3" name="steps">
            <a:extLst xmlns:a="http://schemas.openxmlformats.org/drawingml/2006/main">
              <a:ext uri="{FF2B5EF4-FFF2-40B4-BE49-F238E27FC236}">
                <a16:creationId xmlns:a16="http://schemas.microsoft.com/office/drawing/2014/main" id="{4D4BB3A5-1E76-42A9-998D-8F567F11E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68580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四支測試依序執行</a:t>
            </a:r>
          </a:p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失敗時保留完整輸出</a:t>
            </a:r>
          </a:p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用報錯位置查證原因</a:t>
            </a:r>
          </a:p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不刪測試換取通過</a:t>
            </a:r>
          </a:p>
        </p:txBody>
      </p:sp>
      <p:sp>
        <p:nvSpPr>
          <p:cNvPr id="4" name="code-or-prompt">
            <a:extLst xmlns:a="http://schemas.openxmlformats.org/drawingml/2006/main">
              <a:ext uri="{FF2B5EF4-FFF2-40B4-BE49-F238E27FC236}">
                <a16:creationId xmlns:a16="http://schemas.microsoft.com/office/drawing/2014/main" id="{2EAEC547-1753-4CC3-8C4B-632FC150B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67000"/>
            <a:ext cx="6334125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在 app/ 執行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node test_srs.js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node test_csv.js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node check_words.js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node test_count_due.js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再跑操作包提供的 e2_contract.js</a:t>
            </a:r>
          </a:p>
        </p:txBody>
      </p:sp>
      <p:sp>
        <p:nvSpPr>
          <p:cNvPr id="5" name="checkpoint">
            <a:extLst xmlns:a="http://schemas.openxmlformats.org/drawingml/2006/main">
              <a:ext uri="{FF2B5EF4-FFF2-40B4-BE49-F238E27FC236}">
                <a16:creationId xmlns:a16="http://schemas.microsoft.com/office/drawing/2014/main" id="{6CBF939A-5F4F-4897-9914-018C4C7B0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353300"/>
            <a:ext cx="1371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檢查點  新功能通過，也保留原始行為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7B23CD51-9CEA-48BD-B64C-49EB35590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0200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70808B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080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70808B"/>
                </a:solidFill>
                <a:latin typeface="Noto Sans CJK TC"/>
                <a:ea typeface="Noto Sans CJK TC"/>
                <a:cs typeface="Noto Sans CJK TC"/>
              </a:rPr>
              <a:t>24 / 40</a:t>
            </a:r>
          </a:p>
        </p:txBody>
      </p:sp>
    </p:spTree>
    <p:extLst>
      <p:ext uri="{BB962C8B-B14F-4D97-AF65-F5344CB8AC3E}">
        <p14:creationId xmlns:p14="http://schemas.microsoft.com/office/powerpoint/2010/main" val="120032351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">
            <a:extLst xmlns:a="http://schemas.openxmlformats.org/drawingml/2006/main">
              <a:ext uri="{FF2B5EF4-FFF2-40B4-BE49-F238E27FC236}">
                <a16:creationId xmlns:a16="http://schemas.microsoft.com/office/drawing/2014/main" id="{A7045FCF-237D-4F81-B190-78FB7EF68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57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47D71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47D7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247D71"/>
                </a:solidFill>
                <a:latin typeface="Noto Sans CJK TC"/>
                <a:ea typeface="Noto Sans CJK TC"/>
                <a:cs typeface="Noto Sans CJK TC"/>
              </a:rPr>
              <a:t>規格與測試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56DDBB9-E143-4C6B-8AEC-368745B49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390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diff 包含什麼，review 才看得到什麼</a:t>
            </a:r>
          </a:p>
        </p:txBody>
      </p:sp>
      <p:sp>
        <p:nvSpPr>
          <p:cNvPr id="3" name="steps">
            <a:extLst xmlns:a="http://schemas.openxmlformats.org/drawingml/2006/main">
              <a:ext uri="{FF2B5EF4-FFF2-40B4-BE49-F238E27FC236}">
                <a16:creationId xmlns:a16="http://schemas.microsoft.com/office/drawing/2014/main" id="{AE3D54C7-FEBD-489C-BB43-34BA40B69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68580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git diff 只看尚未暫存的追蹤檔</a:t>
            </a:r>
          </a:p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新檔要從 git status 找到</a:t>
            </a:r>
          </a:p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暫存指定檔後再看完整 diff</a:t>
            </a:r>
          </a:p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commit 留到 review 完成後</a:t>
            </a:r>
          </a:p>
        </p:txBody>
      </p:sp>
      <p:sp>
        <p:nvSpPr>
          <p:cNvPr id="4" name="code-or-prompt">
            <a:extLst xmlns:a="http://schemas.openxmlformats.org/drawingml/2006/main">
              <a:ext uri="{FF2B5EF4-FFF2-40B4-BE49-F238E27FC236}">
                <a16:creationId xmlns:a16="http://schemas.microsoft.com/office/drawing/2014/main" id="{5303921C-ADA5-46FD-9558-CC08DF6E0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67000"/>
            <a:ext cx="6334125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在 starter/ 執行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git status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git diff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git add app/words.js app/srs.js app/test_count_due.js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git diff --cached</a:t>
            </a:r>
          </a:p>
        </p:txBody>
      </p:sp>
      <p:sp>
        <p:nvSpPr>
          <p:cNvPr id="5" name="checkpoint">
            <a:extLst xmlns:a="http://schemas.openxmlformats.org/drawingml/2006/main">
              <a:ext uri="{FF2B5EF4-FFF2-40B4-BE49-F238E27FC236}">
                <a16:creationId xmlns:a16="http://schemas.microsoft.com/office/drawing/2014/main" id="{A0ADB503-E6D4-4EAD-BFE2-402712468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353300"/>
            <a:ext cx="1371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檢查點  完整 diff 含新增函式與新增測試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44D15AA-03E7-4475-8629-8653CF2CD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0200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70808B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080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70808B"/>
                </a:solidFill>
                <a:latin typeface="Noto Sans CJK TC"/>
                <a:ea typeface="Noto Sans CJK TC"/>
                <a:cs typeface="Noto Sans CJK TC"/>
              </a:rPr>
              <a:t>25 / 40</a:t>
            </a:r>
          </a:p>
        </p:txBody>
      </p:sp>
    </p:spTree>
    <p:extLst>
      <p:ext uri="{BB962C8B-B14F-4D97-AF65-F5344CB8AC3E}">
        <p14:creationId xmlns:p14="http://schemas.microsoft.com/office/powerpoint/2010/main" val="31987424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112D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">
            <a:extLst xmlns:a="http://schemas.openxmlformats.org/drawingml/2006/main">
              <a:ext uri="{FF2B5EF4-FFF2-40B4-BE49-F238E27FC236}">
                <a16:creationId xmlns:a16="http://schemas.microsoft.com/office/drawing/2014/main" id="{173A4DF5-756E-4BC3-9C00-46952893E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57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8FD5C0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8FD5C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8FD5C0"/>
                </a:solidFill>
                <a:latin typeface="Noto Sans CJK TC"/>
                <a:ea typeface="Noto Sans CJK TC"/>
                <a:cs typeface="Noto Sans CJK TC"/>
              </a:rPr>
              <a:t>操作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BD30630-74BF-4D5D-AC5E-04B51EDA7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390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休息與環境切換</a:t>
            </a:r>
          </a:p>
        </p:txBody>
      </p:sp>
      <p:sp>
        <p:nvSpPr>
          <p:cNvPr id="3" name="main-copy">
            <a:extLst xmlns:a="http://schemas.openxmlformats.org/drawingml/2006/main">
              <a:ext uri="{FF2B5EF4-FFF2-40B4-BE49-F238E27FC236}">
                <a16:creationId xmlns:a16="http://schemas.microsoft.com/office/drawing/2014/main" id="{90EF26F4-CA56-4E69-A0FA-0F313328E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2250"/>
            <a:ext cx="81915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11:20–11:30</a:t>
            </a:r>
          </a:p>
          <a:p xmlns:a="http://schemas.openxmlformats.org/drawingml/2006/main">
            <a:pPr>
              <a:defRPr sz="255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VS Code 成果保留</a:t>
            </a:r>
          </a:p>
          <a:p xmlns:a="http://schemas.openxmlformats.org/drawingml/2006/main">
            <a:pPr>
              <a:defRPr sz="255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接著重新使用原始起點</a:t>
            </a:r>
          </a:p>
          <a:p xmlns:a="http://schemas.openxmlformats.org/drawingml/2006/main">
            <a:pPr>
              <a:defRPr sz="255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在 Colab 重做相同任務</a:t>
            </a:r>
          </a:p>
        </p:txBody>
      </p:sp>
      <p:sp>
        <p:nvSpPr>
          <p:cNvPr id="4" name="side-copy">
            <a:extLst xmlns:a="http://schemas.openxmlformats.org/drawingml/2006/main">
              <a:ext uri="{FF2B5EF4-FFF2-40B4-BE49-F238E27FC236}">
                <a16:creationId xmlns:a16="http://schemas.microsoft.com/office/drawing/2014/main" id="{2C48BD04-C1D4-4AEE-94E2-3EEE6CE69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762250"/>
            <a:ext cx="5048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0">
                <a:solidFill>
                  <a:srgbClr val="8FD5C0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8FD5C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0">
                <a:solidFill>
                  <a:srgbClr val="8FD5C0"/>
                </a:solidFill>
                <a:latin typeface="Noto Sans CJK TC"/>
                <a:ea typeface="Noto Sans CJK TC"/>
                <a:cs typeface="Noto Sans CJK TC"/>
              </a:rPr>
              <a:t>下載 YTP_E2_Colab.ipynb</a:t>
            </a:r>
          </a:p>
          <a:p xmlns:a="http://schemas.openxmlformats.org/drawingml/2006/main">
            <a:pPr>
              <a:defRPr sz="2550" b="0">
                <a:solidFill>
                  <a:srgbClr val="8FD5C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0">
                <a:solidFill>
                  <a:srgbClr val="8FD5C0"/>
                </a:solidFill>
                <a:latin typeface="Noto Sans CJK TC"/>
                <a:ea typeface="Noto Sans CJK TC"/>
                <a:cs typeface="Noto Sans CJK TC"/>
              </a:rPr>
              <a:t>開啟 colab.research.google.com</a:t>
            </a:r>
          </a:p>
          <a:p xmlns:a="http://schemas.openxmlformats.org/drawingml/2006/main">
            <a:pPr>
              <a:defRPr sz="2550" b="0">
                <a:solidFill>
                  <a:srgbClr val="8FD5C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0">
                <a:solidFill>
                  <a:srgbClr val="8FD5C0"/>
                </a:solidFill>
                <a:latin typeface="Noto Sans CJK TC"/>
                <a:ea typeface="Noto Sans CJK TC"/>
                <a:cs typeface="Noto Sans CJK TC"/>
              </a:rPr>
              <a:t>檔案 → 上傳筆記本</a:t>
            </a:r>
          </a:p>
          <a:p xmlns:a="http://schemas.openxmlformats.org/drawingml/2006/main">
            <a:pPr>
              <a:defRPr sz="2550" b="0">
                <a:solidFill>
                  <a:srgbClr val="8FD5C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0">
                <a:solidFill>
                  <a:srgbClr val="8FD5C0"/>
                </a:solidFill>
                <a:latin typeface="Noto Sans CJK TC"/>
                <a:ea typeface="Noto Sans CJK TC"/>
                <a:cs typeface="Noto Sans CJK TC"/>
              </a:rPr>
              <a:t>檔案 → 在雲端硬碟中儲存副本</a:t>
            </a:r>
          </a:p>
        </p:txBody>
      </p:sp>
      <p:sp>
        <p:nvSpPr>
          <p:cNvPr id="5" name="checkpoint">
            <a:extLst xmlns:a="http://schemas.openxmlformats.org/drawingml/2006/main">
              <a:ext uri="{FF2B5EF4-FFF2-40B4-BE49-F238E27FC236}">
                <a16:creationId xmlns:a16="http://schemas.microsoft.com/office/drawing/2014/main" id="{B9973E83-EDE6-4850-8C09-4ECEFD831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353300"/>
            <a:ext cx="1371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8FD5C0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8FD5C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8FD5C0"/>
                </a:solidFill>
                <a:latin typeface="Noto Sans CJK TC"/>
                <a:ea typeface="Noto Sans CJK TC"/>
                <a:cs typeface="Noto Sans CJK TC"/>
              </a:rPr>
              <a:t>檢查點  CPU 即可，不需 GPU 或 API key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4750EAD6-62F8-4F9C-88B6-24F601354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0200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C7D6DB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C7D6D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C7D6DB"/>
                </a:solidFill>
                <a:latin typeface="Noto Sans CJK TC"/>
                <a:ea typeface="Noto Sans CJK TC"/>
                <a:cs typeface="Noto Sans CJK TC"/>
              </a:rPr>
              <a:t>26 / 40</a:t>
            </a:r>
          </a:p>
        </p:txBody>
      </p:sp>
    </p:spTree>
    <p:extLst>
      <p:ext uri="{BB962C8B-B14F-4D97-AF65-F5344CB8AC3E}">
        <p14:creationId xmlns:p14="http://schemas.microsoft.com/office/powerpoint/2010/main" val="163952778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">
            <a:extLst xmlns:a="http://schemas.openxmlformats.org/drawingml/2006/main">
              <a:ext uri="{FF2B5EF4-FFF2-40B4-BE49-F238E27FC236}">
                <a16:creationId xmlns:a16="http://schemas.microsoft.com/office/drawing/2014/main" id="{AA3F2EF7-D093-4B50-BFAD-3EE3AAB87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57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47D71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47D7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247D71"/>
                </a:solidFill>
                <a:latin typeface="Noto Sans CJK TC"/>
                <a:ea typeface="Noto Sans CJK TC"/>
                <a:cs typeface="Noto Sans CJK TC"/>
              </a:rPr>
              <a:t>Colab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222B5E6-C0F6-49E0-82E2-56608AA87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390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Colab 01：還原相同起點</a:t>
            </a:r>
          </a:p>
        </p:txBody>
      </p:sp>
      <p:sp>
        <p:nvSpPr>
          <p:cNvPr id="3" name="steps">
            <a:extLst xmlns:a="http://schemas.openxmlformats.org/drawingml/2006/main">
              <a:ext uri="{FF2B5EF4-FFF2-40B4-BE49-F238E27FC236}">
                <a16:creationId xmlns:a16="http://schemas.microsoft.com/office/drawing/2014/main" id="{86BF580B-7034-42DE-9983-E38178C27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68580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執行第一個程式格</a:t>
            </a:r>
          </a:p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Notebook 已內嵌 v1.1 程式快照</a:t>
            </a:r>
          </a:p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讀取 /content/ytp-e2/app</a:t>
            </a:r>
          </a:p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印出來源 commit 與檔案列表</a:t>
            </a:r>
          </a:p>
        </p:txBody>
      </p:sp>
      <p:sp>
        <p:nvSpPr>
          <p:cNvPr id="4" name="code-or-prompt">
            <a:extLst xmlns:a="http://schemas.openxmlformats.org/drawingml/2006/main">
              <a:ext uri="{FF2B5EF4-FFF2-40B4-BE49-F238E27FC236}">
                <a16:creationId xmlns:a16="http://schemas.microsoft.com/office/drawing/2014/main" id="{7F8A8ABC-CD52-4002-8A7E-3B90B2816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67000"/>
            <a:ext cx="6334125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BASE：Colab VM 的練習資料夾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APP：要修改的 JavaScript 程式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重跑初始化會還原 app/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完成後先下載，才重跑</a:t>
            </a:r>
          </a:p>
        </p:txBody>
      </p:sp>
      <p:sp>
        <p:nvSpPr>
          <p:cNvPr id="5" name="checkpoint">
            <a:extLst xmlns:a="http://schemas.openxmlformats.org/drawingml/2006/main">
              <a:ext uri="{FF2B5EF4-FFF2-40B4-BE49-F238E27FC236}">
                <a16:creationId xmlns:a16="http://schemas.microsoft.com/office/drawing/2014/main" id="{AF9AFD48-3F67-415B-B7FA-F96528BD7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353300"/>
            <a:ext cx="1371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檢查點  確認 words.js 仍是未修改的18字起點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B4FF2B4A-3D79-4695-A708-158C41328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0200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70808B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080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70808B"/>
                </a:solidFill>
                <a:latin typeface="Noto Sans CJK TC"/>
                <a:ea typeface="Noto Sans CJK TC"/>
                <a:cs typeface="Noto Sans CJK TC"/>
              </a:rPr>
              <a:t>27 / 40</a:t>
            </a:r>
          </a:p>
        </p:txBody>
      </p:sp>
    </p:spTree>
    <p:extLst>
      <p:ext uri="{BB962C8B-B14F-4D97-AF65-F5344CB8AC3E}">
        <p14:creationId xmlns:p14="http://schemas.microsoft.com/office/powerpoint/2010/main" val="208745679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">
            <a:extLst xmlns:a="http://schemas.openxmlformats.org/drawingml/2006/main">
              <a:ext uri="{FF2B5EF4-FFF2-40B4-BE49-F238E27FC236}">
                <a16:creationId xmlns:a16="http://schemas.microsoft.com/office/drawing/2014/main" id="{A6D51BB1-F1D3-49A2-A1D6-D331354EE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57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47D71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47D7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247D71"/>
                </a:solidFill>
                <a:latin typeface="Noto Sans CJK TC"/>
                <a:ea typeface="Noto Sans CJK TC"/>
                <a:cs typeface="Noto Sans CJK TC"/>
              </a:rPr>
              <a:t>Colab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25B070F-9315-4420-95CF-2C87F5E05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390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Colab 02：跑同一組原始測試</a:t>
            </a:r>
          </a:p>
        </p:txBody>
      </p:sp>
      <p:sp>
        <p:nvSpPr>
          <p:cNvPr id="3" name="steps">
            <a:extLst xmlns:a="http://schemas.openxmlformats.org/drawingml/2006/main">
              <a:ext uri="{FF2B5EF4-FFF2-40B4-BE49-F238E27FC236}">
                <a16:creationId xmlns:a16="http://schemas.microsoft.com/office/drawing/2014/main" id="{665DD5BD-CB0C-4876-8C52-23B241B42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68580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執行 Node 環境檢查格</a:t>
            </a:r>
          </a:p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缺少 Node 時，格子會安裝</a:t>
            </a:r>
          </a:p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run_node 會顯示 stdout/stderr</a:t>
            </a:r>
          </a:p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非零結束碼會停止該格</a:t>
            </a:r>
          </a:p>
        </p:txBody>
      </p:sp>
      <p:sp>
        <p:nvSpPr>
          <p:cNvPr id="4" name="code-or-prompt">
            <a:extLst xmlns:a="http://schemas.openxmlformats.org/drawingml/2006/main">
              <a:ext uri="{FF2B5EF4-FFF2-40B4-BE49-F238E27FC236}">
                <a16:creationId xmlns:a16="http://schemas.microsoft.com/office/drawing/2014/main" id="{15DD1ED4-6BEE-4B1B-A43D-4EFDBF477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67000"/>
            <a:ext cx="6334125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for name in [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    "test_srs.js",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    "test_csv.js",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    "check_words.js"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]: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    run_node(name)</a:t>
            </a:r>
          </a:p>
        </p:txBody>
      </p:sp>
      <p:sp>
        <p:nvSpPr>
          <p:cNvPr id="5" name="checkpoint">
            <a:extLst xmlns:a="http://schemas.openxmlformats.org/drawingml/2006/main">
              <a:ext uri="{FF2B5EF4-FFF2-40B4-BE49-F238E27FC236}">
                <a16:creationId xmlns:a16="http://schemas.microsoft.com/office/drawing/2014/main" id="{BEB5A7B2-7B47-4524-8023-81EC6BE79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353300"/>
            <a:ext cx="1371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檢查點  三支測試通過，字數與 VS Code 起點一致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F4DA0555-A25E-4815-9425-28E376F01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0200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70808B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080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70808B"/>
                </a:solidFill>
                <a:latin typeface="Noto Sans CJK TC"/>
                <a:ea typeface="Noto Sans CJK TC"/>
                <a:cs typeface="Noto Sans CJK TC"/>
              </a:rPr>
              <a:t>28 / 40</a:t>
            </a:r>
          </a:p>
        </p:txBody>
      </p:sp>
    </p:spTree>
    <p:extLst>
      <p:ext uri="{BB962C8B-B14F-4D97-AF65-F5344CB8AC3E}">
        <p14:creationId xmlns:p14="http://schemas.microsoft.com/office/powerpoint/2010/main" val="116718430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">
            <a:extLst xmlns:a="http://schemas.openxmlformats.org/drawingml/2006/main">
              <a:ext uri="{FF2B5EF4-FFF2-40B4-BE49-F238E27FC236}">
                <a16:creationId xmlns:a16="http://schemas.microsoft.com/office/drawing/2014/main" id="{EDACF21A-D777-4F91-B2FC-C78414ADC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57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47D71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47D7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247D71"/>
                </a:solidFill>
                <a:latin typeface="Noto Sans CJK TC"/>
                <a:ea typeface="Noto Sans CJK TC"/>
                <a:cs typeface="Noto Sans CJK TC"/>
              </a:rPr>
              <a:t>Colab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D0ED38F-5ECC-48D2-ADC1-9469459F0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390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Colab 03：提供可查證的上下文</a:t>
            </a:r>
          </a:p>
        </p:txBody>
      </p:sp>
      <p:sp>
        <p:nvSpPr>
          <p:cNvPr id="3" name="steps">
            <a:extLst xmlns:a="http://schemas.openxmlformats.org/drawingml/2006/main">
              <a:ext uri="{FF2B5EF4-FFF2-40B4-BE49-F238E27FC236}">
                <a16:creationId xmlns:a16="http://schemas.microsoft.com/office/drawing/2014/main" id="{C3111897-F634-4AEE-826D-6A0D64773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68580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執行帶行號的程式輸出格</a:t>
            </a:r>
          </a:p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把輸出貼給可用的 AI 對話</a:t>
            </a:r>
          </a:p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再貼相同的地圖、事件與設計問題</a:t>
            </a:r>
          </a:p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抽驗它指出的兩個行號</a:t>
            </a:r>
          </a:p>
        </p:txBody>
      </p:sp>
      <p:sp>
        <p:nvSpPr>
          <p:cNvPr id="4" name="code-or-prompt">
            <a:extLst xmlns:a="http://schemas.openxmlformats.org/drawingml/2006/main">
              <a:ext uri="{FF2B5EF4-FFF2-40B4-BE49-F238E27FC236}">
                <a16:creationId xmlns:a16="http://schemas.microsoft.com/office/drawing/2014/main" id="{F3704BB7-5745-4AD7-A989-136D92C08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67000"/>
            <a:ext cx="6334125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檔案更新後，再輸出一次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AI 看到的是你提供的快照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Notebook 的 Python 可以讀檔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AI 是否能讀檔要個別確認</a:t>
            </a:r>
          </a:p>
        </p:txBody>
      </p:sp>
      <p:sp>
        <p:nvSpPr>
          <p:cNvPr id="5" name="checkpoint">
            <a:extLst xmlns:a="http://schemas.openxmlformats.org/drawingml/2006/main">
              <a:ext uri="{FF2B5EF4-FFF2-40B4-BE49-F238E27FC236}">
                <a16:creationId xmlns:a16="http://schemas.microsoft.com/office/drawing/2014/main" id="{75B00E95-881C-4B3D-99C9-445A2F633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353300"/>
            <a:ext cx="1371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檢查點  AI 回答能連回這次輸出的實際程式碼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35B9907A-FE7A-43EB-9EB8-7F7F301AD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0200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70808B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080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70808B"/>
                </a:solidFill>
                <a:latin typeface="Noto Sans CJK TC"/>
                <a:ea typeface="Noto Sans CJK TC"/>
                <a:cs typeface="Noto Sans CJK TC"/>
              </a:rPr>
              <a:t>29 / 40</a:t>
            </a:r>
          </a:p>
        </p:txBody>
      </p:sp>
    </p:spTree>
    <p:extLst>
      <p:ext uri="{BB962C8B-B14F-4D97-AF65-F5344CB8AC3E}">
        <p14:creationId xmlns:p14="http://schemas.microsoft.com/office/powerpoint/2010/main" val="88577359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">
            <a:extLst xmlns:a="http://schemas.openxmlformats.org/drawingml/2006/main">
              <a:ext uri="{FF2B5EF4-FFF2-40B4-BE49-F238E27FC236}">
                <a16:creationId xmlns:a16="http://schemas.microsoft.com/office/drawing/2014/main" id="{2BC90C95-4759-4B04-8C9E-F27314F95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57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47D71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47D7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247D71"/>
                </a:solidFill>
                <a:latin typeface="Noto Sans CJK TC"/>
                <a:ea typeface="Noto Sans CJK TC"/>
                <a:cs typeface="Noto Sans CJK TC"/>
              </a:rPr>
              <a:t>Colab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AC13A95-339B-47F8-9007-CE217779E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390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Colab 04：再新增三個單字</a:t>
            </a:r>
          </a:p>
        </p:txBody>
      </p:sp>
      <p:sp>
        <p:nvSpPr>
          <p:cNvPr id="3" name="steps">
            <a:extLst xmlns:a="http://schemas.openxmlformats.org/drawingml/2006/main">
              <a:ext uri="{FF2B5EF4-FFF2-40B4-BE49-F238E27FC236}">
                <a16:creationId xmlns:a16="http://schemas.microsoft.com/office/drawing/2014/main" id="{D24B2FE7-44C0-40CA-932C-8496D3A49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68580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從筆記本複製 words 提示詞</a:t>
            </a:r>
          </a:p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先確認計畫，再讓 AI 產出完整檔案</a:t>
            </a:r>
          </a:p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貼入 updated_words 的三引號內</a:t>
            </a:r>
          </a:p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執行寫檔與 check_words.js</a:t>
            </a:r>
          </a:p>
        </p:txBody>
      </p:sp>
      <p:sp>
        <p:nvSpPr>
          <p:cNvPr id="4" name="code-or-prompt">
            <a:extLst xmlns:a="http://schemas.openxmlformats.org/drawingml/2006/main">
              <a:ext uri="{FF2B5EF4-FFF2-40B4-BE49-F238E27FC236}">
                <a16:creationId xmlns:a16="http://schemas.microsoft.com/office/drawing/2014/main" id="{E3C60CE5-9EFC-4444-95BA-52B80F41A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67000"/>
            <a:ext cx="6334125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updated_words = r"""完整 words.js"""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(APP / "words.js").write_text(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    updated_words, encoding="utf-8"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)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run_node("check_words.js")</a:t>
            </a:r>
          </a:p>
        </p:txBody>
      </p:sp>
      <p:sp>
        <p:nvSpPr>
          <p:cNvPr id="5" name="checkpoint">
            <a:extLst xmlns:a="http://schemas.openxmlformats.org/drawingml/2006/main">
              <a:ext uri="{FF2B5EF4-FFF2-40B4-BE49-F238E27FC236}">
                <a16:creationId xmlns:a16="http://schemas.microsoft.com/office/drawing/2014/main" id="{FB11F45D-0958-4D72-A9C0-82DD42F85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353300"/>
            <a:ext cx="1371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檢查點  只有三個新增字，總數21，沒有重複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E34D3B1A-68AC-4F93-A5B2-0220C89DF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0200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70808B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080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70808B"/>
                </a:solidFill>
                <a:latin typeface="Noto Sans CJK TC"/>
                <a:ea typeface="Noto Sans CJK TC"/>
                <a:cs typeface="Noto Sans CJK TC"/>
              </a:rPr>
              <a:t>30 / 40</a:t>
            </a:r>
          </a:p>
        </p:txBody>
      </p:sp>
    </p:spTree>
    <p:extLst>
      <p:ext uri="{BB962C8B-B14F-4D97-AF65-F5344CB8AC3E}">
        <p14:creationId xmlns:p14="http://schemas.microsoft.com/office/powerpoint/2010/main" val="123603928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">
            <a:extLst xmlns:a="http://schemas.openxmlformats.org/drawingml/2006/main">
              <a:ext uri="{FF2B5EF4-FFF2-40B4-BE49-F238E27FC236}">
                <a16:creationId xmlns:a16="http://schemas.microsoft.com/office/drawing/2014/main" id="{919185F9-3990-41C8-861F-ED6B6E8F1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57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47D71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47D7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247D71"/>
                </a:solidFill>
                <a:latin typeface="Noto Sans CJK TC"/>
                <a:ea typeface="Noto Sans CJK TC"/>
                <a:cs typeface="Noto Sans CJK TC"/>
              </a:rPr>
              <a:t>Colab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C64ACE1-8137-4F72-99FD-0E93C1973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390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Colab 05：再實作 countDue</a:t>
            </a:r>
          </a:p>
        </p:txBody>
      </p:sp>
      <p:sp>
        <p:nvSpPr>
          <p:cNvPr id="3" name="steps">
            <a:extLst xmlns:a="http://schemas.openxmlformats.org/drawingml/2006/main">
              <a:ext uri="{FF2B5EF4-FFF2-40B4-BE49-F238E27FC236}">
                <a16:creationId xmlns:a16="http://schemas.microsoft.com/office/drawing/2014/main" id="{71776C31-770A-4888-8CDE-78A3A554D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68580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使用完全相同規格</a:t>
            </a:r>
          </a:p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貼完整 srs.js 與新測試檔</a:t>
            </a:r>
          </a:p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執行四支測試</a:t>
            </a:r>
          </a:p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再執行教師提供的合約測試</a:t>
            </a:r>
          </a:p>
        </p:txBody>
      </p:sp>
      <p:sp>
        <p:nvSpPr>
          <p:cNvPr id="4" name="code-or-prompt">
            <a:extLst xmlns:a="http://schemas.openxmlformats.org/drawingml/2006/main">
              <a:ext uri="{FF2B5EF4-FFF2-40B4-BE49-F238E27FC236}">
                <a16:creationId xmlns:a16="http://schemas.microsoft.com/office/drawing/2014/main" id="{71531D8F-E61E-4102-B3E0-30B5952BE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67000"/>
            <a:ext cx="6334125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必須保留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schedule 的行為與原始匯出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必須新增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countDue(states, today)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test_count_due.js</a:t>
            </a:r>
          </a:p>
        </p:txBody>
      </p:sp>
      <p:sp>
        <p:nvSpPr>
          <p:cNvPr id="5" name="checkpoint">
            <a:extLst xmlns:a="http://schemas.openxmlformats.org/drawingml/2006/main">
              <a:ext uri="{FF2B5EF4-FFF2-40B4-BE49-F238E27FC236}">
                <a16:creationId xmlns:a16="http://schemas.microsoft.com/office/drawing/2014/main" id="{A28F3794-1E89-40B5-B1FD-9B15AD2FD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353300"/>
            <a:ext cx="1371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檢查點  due=100、today=100 必須算一筆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879708BF-41E3-42DF-B043-6322C08E4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0200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70808B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080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70808B"/>
                </a:solidFill>
                <a:latin typeface="Noto Sans CJK TC"/>
                <a:ea typeface="Noto Sans CJK TC"/>
                <a:cs typeface="Noto Sans CJK TC"/>
              </a:rPr>
              <a:t>31 / 40</a:t>
            </a:r>
          </a:p>
        </p:txBody>
      </p:sp>
    </p:spTree>
    <p:extLst>
      <p:ext uri="{BB962C8B-B14F-4D97-AF65-F5344CB8AC3E}">
        <p14:creationId xmlns:p14="http://schemas.microsoft.com/office/powerpoint/2010/main" val="70705246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">
            <a:extLst xmlns:a="http://schemas.openxmlformats.org/drawingml/2006/main">
              <a:ext uri="{FF2B5EF4-FFF2-40B4-BE49-F238E27FC236}">
                <a16:creationId xmlns:a16="http://schemas.microsoft.com/office/drawing/2014/main" id="{00258715-C731-4882-B631-8B85CD539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57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47D71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47D7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247D71"/>
                </a:solidFill>
                <a:latin typeface="Noto Sans CJK TC"/>
                <a:ea typeface="Noto Sans CJK TC"/>
                <a:cs typeface="Noto Sans CJK TC"/>
              </a:rPr>
              <a:t>Colab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6BA54A1-3E48-4A79-B5FF-E53D767A3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390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Colab 06：diff 與保存</a:t>
            </a:r>
          </a:p>
        </p:txBody>
      </p:sp>
      <p:sp>
        <p:nvSpPr>
          <p:cNvPr id="3" name="steps">
            <a:extLst xmlns:a="http://schemas.openxmlformats.org/drawingml/2006/main">
              <a:ext uri="{FF2B5EF4-FFF2-40B4-BE49-F238E27FC236}">
                <a16:creationId xmlns:a16="http://schemas.microsoft.com/office/drawing/2014/main" id="{957BCDAB-C9DE-43AD-B5D8-CE52AD4F8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68580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執行 difflib 比較格</a:t>
            </a:r>
          </a:p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檢查 words.js、srs.js 與新測試</a:t>
            </a:r>
          </a:p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執行下載成果格</a:t>
            </a:r>
          </a:p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保存 notebook 的副本</a:t>
            </a:r>
          </a:p>
        </p:txBody>
      </p:sp>
      <p:sp>
        <p:nvSpPr>
          <p:cNvPr id="4" name="code-or-prompt">
            <a:extLst xmlns:a="http://schemas.openxmlformats.org/drawingml/2006/main">
              <a:ext uri="{FF2B5EF4-FFF2-40B4-BE49-F238E27FC236}">
                <a16:creationId xmlns:a16="http://schemas.microsoft.com/office/drawing/2014/main" id="{F8D9145F-5B71-4514-8FB0-9234487B5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67000"/>
            <a:ext cx="6334125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下載內容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JavaScript 程式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測試與合約驗收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Notebook 與 app 壓縮檔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兩份都要保存</a:t>
            </a:r>
          </a:p>
        </p:txBody>
      </p:sp>
      <p:sp>
        <p:nvSpPr>
          <p:cNvPr id="5" name="checkpoint">
            <a:extLst xmlns:a="http://schemas.openxmlformats.org/drawingml/2006/main">
              <a:ext uri="{FF2B5EF4-FFF2-40B4-BE49-F238E27FC236}">
                <a16:creationId xmlns:a16="http://schemas.microsoft.com/office/drawing/2014/main" id="{5237E10E-BE5D-4D9A-A5D1-3BB3592CB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353300"/>
            <a:ext cx="1371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檢查點  下載的成果可回 VS Code 以 HTTP 啟動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677198E7-5B42-4BE1-B751-2960AFF2C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0200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70808B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080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70808B"/>
                </a:solidFill>
                <a:latin typeface="Noto Sans CJK TC"/>
                <a:ea typeface="Noto Sans CJK TC"/>
                <a:cs typeface="Noto Sans CJK TC"/>
              </a:rPr>
              <a:t>32 / 40</a:t>
            </a:r>
          </a:p>
        </p:txBody>
      </p:sp>
    </p:spTree>
    <p:extLst>
      <p:ext uri="{BB962C8B-B14F-4D97-AF65-F5344CB8AC3E}">
        <p14:creationId xmlns:p14="http://schemas.microsoft.com/office/powerpoint/2010/main" val="1783712786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">
            <a:extLst xmlns:a="http://schemas.openxmlformats.org/drawingml/2006/main">
              <a:ext uri="{FF2B5EF4-FFF2-40B4-BE49-F238E27FC236}">
                <a16:creationId xmlns:a16="http://schemas.microsoft.com/office/drawing/2014/main" id="{30F84893-3005-4AF0-9CF6-33E217A61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57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47D71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47D7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247D71"/>
                </a:solidFill>
                <a:latin typeface="Noto Sans CJK TC"/>
                <a:ea typeface="Noto Sans CJK TC"/>
                <a:cs typeface="Noto Sans CJK TC"/>
              </a:rPr>
              <a:t>比較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8FD64B1-D998-4BA1-ADD5-984A69519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390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兩環境的結果比較</a:t>
            </a:r>
          </a:p>
        </p:txBody>
      </p:sp>
      <p:sp>
        <p:nvSpPr>
          <p:cNvPr id="3" name="steps">
            <a:extLst xmlns:a="http://schemas.openxmlformats.org/drawingml/2006/main">
              <a:ext uri="{FF2B5EF4-FFF2-40B4-BE49-F238E27FC236}">
                <a16:creationId xmlns:a16="http://schemas.microsoft.com/office/drawing/2014/main" id="{F18012E7-C962-4166-BA7D-B423508B8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68580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相同：原始程式、任務與合約測試</a:t>
            </a:r>
          </a:p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可能不同：AI 回答、改法與上下文</a:t>
            </a:r>
          </a:p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VS Code：代理讀寫、HTTP UI</a:t>
            </a:r>
          </a:p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Colab：儲存格、檔案快照、Node</a:t>
            </a:r>
          </a:p>
        </p:txBody>
      </p:sp>
      <p:sp>
        <p:nvSpPr>
          <p:cNvPr id="4" name="code-or-prompt">
            <a:extLst xmlns:a="http://schemas.openxmlformats.org/drawingml/2006/main">
              <a:ext uri="{FF2B5EF4-FFF2-40B4-BE49-F238E27FC236}">
                <a16:creationId xmlns:a16="http://schemas.microsoft.com/office/drawing/2014/main" id="{AE0895AE-84B7-4B47-9CFC-F9F64E14D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67000"/>
            <a:ext cx="6334125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請各組回答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哪一項規格兩邊都通過？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哪一次 AI 回答需要補上下文？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哪個測試抓到真實問題？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哪些 UI 行為仍需人工驗證？</a:t>
            </a:r>
          </a:p>
        </p:txBody>
      </p:sp>
      <p:sp>
        <p:nvSpPr>
          <p:cNvPr id="5" name="checkpoint">
            <a:extLst xmlns:a="http://schemas.openxmlformats.org/drawingml/2006/main">
              <a:ext uri="{FF2B5EF4-FFF2-40B4-BE49-F238E27FC236}">
                <a16:creationId xmlns:a16="http://schemas.microsoft.com/office/drawing/2014/main" id="{927A2ED4-657C-4003-9B75-47FFDEA65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353300"/>
            <a:ext cx="1371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檢查點  比較實際證據，不只比較「能跑」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834D8BF0-4F91-4EB2-A26D-A77456EE4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0200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70808B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080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70808B"/>
                </a:solidFill>
                <a:latin typeface="Noto Sans CJK TC"/>
                <a:ea typeface="Noto Sans CJK TC"/>
                <a:cs typeface="Noto Sans CJK TC"/>
              </a:rPr>
              <a:t>33 / 40</a:t>
            </a:r>
          </a:p>
        </p:txBody>
      </p:sp>
    </p:spTree>
    <p:extLst>
      <p:ext uri="{BB962C8B-B14F-4D97-AF65-F5344CB8AC3E}">
        <p14:creationId xmlns:p14="http://schemas.microsoft.com/office/powerpoint/2010/main" val="1383814947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">
            <a:extLst xmlns:a="http://schemas.openxmlformats.org/drawingml/2006/main">
              <a:ext uri="{FF2B5EF4-FFF2-40B4-BE49-F238E27FC236}">
                <a16:creationId xmlns:a16="http://schemas.microsoft.com/office/drawing/2014/main" id="{54172EBE-03AD-4E94-9FC4-E85622D72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57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47D71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47D7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247D71"/>
                </a:solidFill>
                <a:latin typeface="Noto Sans CJK TC"/>
                <a:ea typeface="Noto Sans CJK TC"/>
                <a:cs typeface="Noto Sans CJK TC"/>
              </a:rPr>
              <a:t>技能與審查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72D369A-462E-472D-B12C-892123ADE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390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Lab 13：新增單字的可重用流程</a:t>
            </a:r>
          </a:p>
        </p:txBody>
      </p:sp>
      <p:sp>
        <p:nvSpPr>
          <p:cNvPr id="3" name="steps">
            <a:extLst xmlns:a="http://schemas.openxmlformats.org/drawingml/2006/main">
              <a:ext uri="{FF2B5EF4-FFF2-40B4-BE49-F238E27FC236}">
                <a16:creationId xmlns:a16="http://schemas.microsoft.com/office/drawing/2014/main" id="{7AFFBFEE-8070-4013-BAC4-267E30BD3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68580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觸發條件：新增或修改單字包</a:t>
            </a:r>
          </a:p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先讀格式與既有資料</a:t>
            </a:r>
          </a:p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新增前去重並保留匯出</a:t>
            </a:r>
          </a:p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修改後執行檢查器</a:t>
            </a:r>
          </a:p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最後看 diff，由人決定 commit</a:t>
            </a:r>
          </a:p>
        </p:txBody>
      </p:sp>
      <p:sp>
        <p:nvSpPr>
          <p:cNvPr id="4" name="code-or-prompt">
            <a:extLst xmlns:a="http://schemas.openxmlformats.org/drawingml/2006/main">
              <a:ext uri="{FF2B5EF4-FFF2-40B4-BE49-F238E27FC236}">
                <a16:creationId xmlns:a16="http://schemas.microsoft.com/office/drawing/2014/main" id="{5750879F-BC41-45D8-B34C-6FBABE6F3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67000"/>
            <a:ext cx="6334125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正向測試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「新增三個天氣主題單字」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應讀單字資料並驗證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負向測試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「卡片圓角改大」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不應修改單字包</a:t>
            </a:r>
          </a:p>
        </p:txBody>
      </p:sp>
      <p:sp>
        <p:nvSpPr>
          <p:cNvPr id="5" name="checkpoint">
            <a:extLst xmlns:a="http://schemas.openxmlformats.org/drawingml/2006/main">
              <a:ext uri="{FF2B5EF4-FFF2-40B4-BE49-F238E27FC236}">
                <a16:creationId xmlns:a16="http://schemas.microsoft.com/office/drawing/2014/main" id="{5758AD5F-0A32-4040-8528-066736A99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353300"/>
            <a:ext cx="1371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檢查點  流程能重用，且不會套到不相關任務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9D0CE9A9-805A-42D6-9EBA-C5B0AA840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0200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70808B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080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70808B"/>
                </a:solidFill>
                <a:latin typeface="Noto Sans CJK TC"/>
                <a:ea typeface="Noto Sans CJK TC"/>
                <a:cs typeface="Noto Sans CJK TC"/>
              </a:rPr>
              <a:t>34 / 40</a:t>
            </a:r>
          </a:p>
        </p:txBody>
      </p:sp>
    </p:spTree>
    <p:extLst>
      <p:ext uri="{BB962C8B-B14F-4D97-AF65-F5344CB8AC3E}">
        <p14:creationId xmlns:p14="http://schemas.microsoft.com/office/powerpoint/2010/main" val="1252741348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">
            <a:extLst xmlns:a="http://schemas.openxmlformats.org/drawingml/2006/main">
              <a:ext uri="{FF2B5EF4-FFF2-40B4-BE49-F238E27FC236}">
                <a16:creationId xmlns:a16="http://schemas.microsoft.com/office/drawing/2014/main" id="{7F0443EE-6821-4A08-9415-B88B81A42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57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47D71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47D7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247D71"/>
                </a:solidFill>
                <a:latin typeface="Noto Sans CJK TC"/>
                <a:ea typeface="Noto Sans CJK TC"/>
                <a:cs typeface="Noto Sans CJK TC"/>
              </a:rPr>
              <a:t>技能與審查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5373BAF-067B-4B96-A58B-73A45AA0B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390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規則、技能與 reviewer 的分工</a:t>
            </a:r>
          </a:p>
        </p:txBody>
      </p:sp>
      <p:sp>
        <p:nvSpPr>
          <p:cNvPr id="3" name="steps">
            <a:extLst xmlns:a="http://schemas.openxmlformats.org/drawingml/2006/main">
              <a:ext uri="{FF2B5EF4-FFF2-40B4-BE49-F238E27FC236}">
                <a16:creationId xmlns:a16="http://schemas.microsoft.com/office/drawing/2014/main" id="{82E498A2-0608-458F-BAB2-D870CF815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68580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專案規則：每次改動共同遵守</a:t>
            </a:r>
          </a:p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技能：特定任務才採用的操作流程</a:t>
            </a:r>
          </a:p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reviewer：獨立檢查變更與證據</a:t>
            </a:r>
          </a:p>
        </p:txBody>
      </p:sp>
      <p:sp>
        <p:nvSpPr>
          <p:cNvPr id="4" name="code-or-prompt">
            <a:extLst xmlns:a="http://schemas.openxmlformats.org/drawingml/2006/main">
              <a:ext uri="{FF2B5EF4-FFF2-40B4-BE49-F238E27FC236}">
                <a16:creationId xmlns:a16="http://schemas.microsoft.com/office/drawing/2014/main" id="{BB213B05-C3C8-40CB-8EFF-9E1F1DDA7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67000"/>
            <a:ext cx="6334125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本堂共同規則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新函式加 // 用途：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本堂新增單字流程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讀格式、去重、修改、測試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本堂 reviewer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只讀 diff，不修改</a:t>
            </a:r>
          </a:p>
        </p:txBody>
      </p:sp>
      <p:sp>
        <p:nvSpPr>
          <p:cNvPr id="5" name="checkpoint">
            <a:extLst xmlns:a="http://schemas.openxmlformats.org/drawingml/2006/main">
              <a:ext uri="{FF2B5EF4-FFF2-40B4-BE49-F238E27FC236}">
                <a16:creationId xmlns:a16="http://schemas.microsoft.com/office/drawing/2014/main" id="{F2562A9F-8FCA-4089-9DC5-9248363C3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353300"/>
            <a:ext cx="1371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檢查點  能說明三種內容各適合放什麼資訊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E2756FE4-2676-4D7E-93F6-3155C06F9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0200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70808B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080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70808B"/>
                </a:solidFill>
                <a:latin typeface="Noto Sans CJK TC"/>
                <a:ea typeface="Noto Sans CJK TC"/>
                <a:cs typeface="Noto Sans CJK TC"/>
              </a:rPr>
              <a:t>35 / 40</a:t>
            </a:r>
          </a:p>
        </p:txBody>
      </p:sp>
    </p:spTree>
    <p:extLst>
      <p:ext uri="{BB962C8B-B14F-4D97-AF65-F5344CB8AC3E}">
        <p14:creationId xmlns:p14="http://schemas.microsoft.com/office/powerpoint/2010/main" val="142573601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">
            <a:extLst xmlns:a="http://schemas.openxmlformats.org/drawingml/2006/main">
              <a:ext uri="{FF2B5EF4-FFF2-40B4-BE49-F238E27FC236}">
                <a16:creationId xmlns:a16="http://schemas.microsoft.com/office/drawing/2014/main" id="{EAFB13A0-8B65-454B-892C-31BCFC36B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57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47D71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47D7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247D71"/>
                </a:solidFill>
                <a:latin typeface="Noto Sans CJK TC"/>
                <a:ea typeface="Noto Sans CJK TC"/>
                <a:cs typeface="Noto Sans CJK TC"/>
              </a:rPr>
              <a:t>技能與審查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B89CBFA-270C-43F5-85D8-FFA23EAF2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390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Lab 14：人先審，再請 AI 審</a:t>
            </a:r>
          </a:p>
        </p:txBody>
      </p:sp>
      <p:sp>
        <p:nvSpPr>
          <p:cNvPr id="3" name="steps">
            <a:extLst xmlns:a="http://schemas.openxmlformats.org/drawingml/2006/main">
              <a:ext uri="{FF2B5EF4-FFF2-40B4-BE49-F238E27FC236}">
                <a16:creationId xmlns:a16="http://schemas.microsoft.com/office/drawing/2014/main" id="{27B30A5C-2EA2-47F3-961A-70EA6B7A1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68580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先記錄自己的判斷</a:t>
            </a:r>
          </a:p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主對話先取得完整 diff</a:t>
            </a:r>
          </a:p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把 diff、新檔與測試輸出交 reviewer</a:t>
            </a:r>
          </a:p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有子代理功能時用唯讀角色</a:t>
            </a:r>
          </a:p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無此功能則開新對話做第二次審查</a:t>
            </a:r>
          </a:p>
        </p:txBody>
      </p:sp>
      <p:sp>
        <p:nvSpPr>
          <p:cNvPr id="4" name="code-or-prompt">
            <a:extLst xmlns:a="http://schemas.openxmlformats.org/drawingml/2006/main">
              <a:ext uri="{FF2B5EF4-FFF2-40B4-BE49-F238E27FC236}">
                <a16:creationId xmlns:a16="http://schemas.microsoft.com/office/drawing/2014/main" id="{41A3E1C4-4D8F-4547-85F2-842D14104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67000"/>
            <a:ext cx="6334125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請只讀以下變更，檢查：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需求符合、邊界、回歸、額外改動。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每項附嚴重度、檔名與行號、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重現案例與建議。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不要修改，不要把未跑寫成通過。</a:t>
            </a:r>
          </a:p>
        </p:txBody>
      </p:sp>
      <p:sp>
        <p:nvSpPr>
          <p:cNvPr id="5" name="checkpoint">
            <a:extLst xmlns:a="http://schemas.openxmlformats.org/drawingml/2006/main">
              <a:ext uri="{FF2B5EF4-FFF2-40B4-BE49-F238E27FC236}">
                <a16:creationId xmlns:a16="http://schemas.microsoft.com/office/drawing/2014/main" id="{D636C957-D59C-466C-9FC5-8B7F977B0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353300"/>
            <a:ext cx="1371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檢查點  審查者收到完整證據，人負責最後決定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6E41BB08-8BBB-4B8F-B6A6-F2C8DFE07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0200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70808B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080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70808B"/>
                </a:solidFill>
                <a:latin typeface="Noto Sans CJK TC"/>
                <a:ea typeface="Noto Sans CJK TC"/>
                <a:cs typeface="Noto Sans CJK TC"/>
              </a:rPr>
              <a:t>36 / 40</a:t>
            </a:r>
          </a:p>
        </p:txBody>
      </p:sp>
    </p:spTree>
    <p:extLst>
      <p:ext uri="{BB962C8B-B14F-4D97-AF65-F5344CB8AC3E}">
        <p14:creationId xmlns:p14="http://schemas.microsoft.com/office/powerpoint/2010/main" val="895678191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">
            <a:extLst xmlns:a="http://schemas.openxmlformats.org/drawingml/2006/main">
              <a:ext uri="{FF2B5EF4-FFF2-40B4-BE49-F238E27FC236}">
                <a16:creationId xmlns:a16="http://schemas.microsoft.com/office/drawing/2014/main" id="{0648634D-7B4A-4A51-A031-D5427C444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57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47D71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47D7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247D71"/>
                </a:solidFill>
                <a:latin typeface="Noto Sans CJK TC"/>
                <a:ea typeface="Noto Sans CJK TC"/>
                <a:cs typeface="Noto Sans CJK TC"/>
              </a:rPr>
              <a:t>技能與審查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5076548-E689-463A-A824-DAC527DDC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390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人審與 AI 審查的對照紀錄</a:t>
            </a:r>
          </a:p>
        </p:txBody>
      </p:sp>
      <p:sp>
        <p:nvSpPr>
          <p:cNvPr id="3" name="steps">
            <a:extLst xmlns:a="http://schemas.openxmlformats.org/drawingml/2006/main">
              <a:ext uri="{FF2B5EF4-FFF2-40B4-BE49-F238E27FC236}">
                <a16:creationId xmlns:a16="http://schemas.microsoft.com/office/drawing/2014/main" id="{29564BA2-BF01-480A-8F41-F6896C07B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68580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共同發現：兩邊都指出的問題</a:t>
            </a:r>
          </a:p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只有人發現：AI 漏掉的地方</a:t>
            </a:r>
          </a:p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只有 AI 發現：人要再查證</a:t>
            </a:r>
          </a:p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AI 誤報：附反證與不採納原因</a:t>
            </a:r>
          </a:p>
        </p:txBody>
      </p:sp>
      <p:sp>
        <p:nvSpPr>
          <p:cNvPr id="4" name="code-or-prompt">
            <a:extLst xmlns:a="http://schemas.openxmlformats.org/drawingml/2006/main">
              <a:ext uri="{FF2B5EF4-FFF2-40B4-BE49-F238E27FC236}">
                <a16:creationId xmlns:a16="http://schemas.microsoft.com/office/drawing/2014/main" id="{639F40AF-FDF5-4102-A1F9-B9A70EF53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67000"/>
            <a:ext cx="6334125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例：AI 說 &lt; 和 &lt;= 都可以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反證：due=100，today=100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預期：1，使用 &lt; 得到0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測試輸出與需求能支持判斷</a:t>
            </a:r>
          </a:p>
        </p:txBody>
      </p:sp>
      <p:sp>
        <p:nvSpPr>
          <p:cNvPr id="5" name="checkpoint">
            <a:extLst xmlns:a="http://schemas.openxmlformats.org/drawingml/2006/main">
              <a:ext uri="{FF2B5EF4-FFF2-40B4-BE49-F238E27FC236}">
                <a16:creationId xmlns:a16="http://schemas.microsoft.com/office/drawing/2014/main" id="{85F79799-9D00-4C77-BF8B-4DCCC0DAF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353300"/>
            <a:ext cx="1371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檢查點  至少留下「一項發現」或「未發現問題的依據」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BF91FF08-0783-45CE-98EB-F2F0B87A6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0200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70808B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080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70808B"/>
                </a:solidFill>
                <a:latin typeface="Noto Sans CJK TC"/>
                <a:ea typeface="Noto Sans CJK TC"/>
                <a:cs typeface="Noto Sans CJK TC"/>
              </a:rPr>
              <a:t>37 / 40</a:t>
            </a:r>
          </a:p>
        </p:txBody>
      </p:sp>
    </p:spTree>
    <p:extLst>
      <p:ext uri="{BB962C8B-B14F-4D97-AF65-F5344CB8AC3E}">
        <p14:creationId xmlns:p14="http://schemas.microsoft.com/office/powerpoint/2010/main" val="573098302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">
            <a:extLst xmlns:a="http://schemas.openxmlformats.org/drawingml/2006/main">
              <a:ext uri="{FF2B5EF4-FFF2-40B4-BE49-F238E27FC236}">
                <a16:creationId xmlns:a16="http://schemas.microsoft.com/office/drawing/2014/main" id="{D1E0F86A-8DDB-4E14-83D7-C05DA7B50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57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47D71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47D7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247D71"/>
                </a:solidFill>
                <a:latin typeface="Noto Sans CJK TC"/>
                <a:ea typeface="Noto Sans CJK TC"/>
                <a:cs typeface="Noto Sans CJK TC"/>
              </a:rPr>
              <a:t>展示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48DD151-4F5E-460A-A078-9F91C5E2D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390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課後交付與三分鐘展示</a:t>
            </a:r>
          </a:p>
        </p:txBody>
      </p:sp>
      <p:sp>
        <p:nvSpPr>
          <p:cNvPr id="3" name="steps">
            <a:extLst xmlns:a="http://schemas.openxmlformats.org/drawingml/2006/main">
              <a:ext uri="{FF2B5EF4-FFF2-40B4-BE49-F238E27FC236}">
                <a16:creationId xmlns:a16="http://schemas.microsoft.com/office/drawing/2014/main" id="{6B57BB16-70DD-4D48-AB91-0B98A664A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68580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展示按鈕事件與對應程式</a:t>
            </a:r>
          </a:p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說明新增功能及一個邊界案例</a:t>
            </a:r>
          </a:p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提供 diff 與實際測試輸出</a:t>
            </a:r>
          </a:p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附兩環境比較與 review 決定</a:t>
            </a:r>
          </a:p>
        </p:txBody>
      </p:sp>
      <p:sp>
        <p:nvSpPr>
          <p:cNvPr id="4" name="code-or-prompt">
            <a:extLst xmlns:a="http://schemas.openxmlformats.org/drawingml/2006/main">
              <a:ext uri="{FF2B5EF4-FFF2-40B4-BE49-F238E27FC236}">
                <a16:creationId xmlns:a16="http://schemas.microsoft.com/office/drawing/2014/main" id="{ECB41848-26BF-436E-BB1D-D054B976B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67000"/>
            <a:ext cx="6334125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建議繳交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自己的 repo 或程式壓縮檔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Colab notebook 與下載成果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PROMPTS、計畫與驗收紀錄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繳交位置與期限由主辦另行公告</a:t>
            </a:r>
          </a:p>
        </p:txBody>
      </p:sp>
      <p:sp>
        <p:nvSpPr>
          <p:cNvPr id="5" name="checkpoint">
            <a:extLst xmlns:a="http://schemas.openxmlformats.org/drawingml/2006/main">
              <a:ext uri="{FF2B5EF4-FFF2-40B4-BE49-F238E27FC236}">
                <a16:creationId xmlns:a16="http://schemas.microsoft.com/office/drawing/2014/main" id="{F31D3C27-6419-4D91-B045-6F5D375AE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353300"/>
            <a:ext cx="1371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檢查點  每個人都能解釋自己採納的修改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07A8C72F-FE06-4A6B-AE4E-807E58676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0200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70808B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080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70808B"/>
                </a:solidFill>
                <a:latin typeface="Noto Sans CJK TC"/>
                <a:ea typeface="Noto Sans CJK TC"/>
                <a:cs typeface="Noto Sans CJK TC"/>
              </a:rPr>
              <a:t>38 / 40</a:t>
            </a:r>
          </a:p>
        </p:txBody>
      </p:sp>
    </p:spTree>
    <p:extLst>
      <p:ext uri="{BB962C8B-B14F-4D97-AF65-F5344CB8AC3E}">
        <p14:creationId xmlns:p14="http://schemas.microsoft.com/office/powerpoint/2010/main" val="813569102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">
            <a:extLst xmlns:a="http://schemas.openxmlformats.org/drawingml/2006/main">
              <a:ext uri="{FF2B5EF4-FFF2-40B4-BE49-F238E27FC236}">
                <a16:creationId xmlns:a16="http://schemas.microsoft.com/office/drawing/2014/main" id="{3D5ADAE0-9024-4AFB-8551-2461FA3EE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57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47D71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47D7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247D71"/>
                </a:solidFill>
                <a:latin typeface="Noto Sans CJK TC"/>
                <a:ea typeface="Noto Sans CJK TC"/>
                <a:cs typeface="Noto Sans CJK TC"/>
              </a:rPr>
              <a:t>附錄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AE116EF-2324-4731-9455-7C50EDAD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390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常見卡點與處理方式</a:t>
            </a:r>
          </a:p>
        </p:txBody>
      </p:sp>
      <p:sp>
        <p:nvSpPr>
          <p:cNvPr id="3" name="steps">
            <a:extLst xmlns:a="http://schemas.openxmlformats.org/drawingml/2006/main">
              <a:ext uri="{FF2B5EF4-FFF2-40B4-BE49-F238E27FC236}">
                <a16:creationId xmlns:a16="http://schemas.microsoft.com/office/drawing/2014/main" id="{995F2771-E48F-43B0-B5DD-10BE84DD5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68580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讀不到檔案：確認工作目錄或提供全文</a:t>
            </a:r>
          </a:p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找不到 node：確認安裝與終端機重開</a:t>
            </a:r>
          </a:p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匯出錯誤：保留原本 module.exports</a:t>
            </a:r>
          </a:p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新測試沒出現在 diff：查看 git status</a:t>
            </a:r>
          </a:p>
        </p:txBody>
      </p:sp>
      <p:sp>
        <p:nvSpPr>
          <p:cNvPr id="4" name="code-or-prompt">
            <a:extLst xmlns:a="http://schemas.openxmlformats.org/drawingml/2006/main">
              <a:ext uri="{FF2B5EF4-FFF2-40B4-BE49-F238E27FC236}">
                <a16:creationId xmlns:a16="http://schemas.microsoft.com/office/drawing/2014/main" id="{6D5A67C5-44C6-4854-A375-54AE230E5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67000"/>
            <a:ext cx="6334125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畫面仍舊版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清除 service worker/cache 後重載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Colab 重新連線後檔案不見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重新初始化，或上傳已下載成果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AI 額度不足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依規格手動實作，再跑同樣測試</a:t>
            </a:r>
          </a:p>
        </p:txBody>
      </p:sp>
      <p:sp>
        <p:nvSpPr>
          <p:cNvPr id="5" name="checkpoint">
            <a:extLst xmlns:a="http://schemas.openxmlformats.org/drawingml/2006/main">
              <a:ext uri="{FF2B5EF4-FFF2-40B4-BE49-F238E27FC236}">
                <a16:creationId xmlns:a16="http://schemas.microsoft.com/office/drawing/2014/main" id="{536B9392-BE32-4DC7-B5DA-798362EDE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353300"/>
            <a:ext cx="1371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檢查點  求助時附命令、工作目錄、完整錯誤與預期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E4B8FE95-BDE8-4C84-8D76-65832A828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0200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70808B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080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70808B"/>
                </a:solidFill>
                <a:latin typeface="Noto Sans CJK TC"/>
                <a:ea typeface="Noto Sans CJK TC"/>
                <a:cs typeface="Noto Sans CJK TC"/>
              </a:rPr>
              <a:t>39 / 40</a:t>
            </a:r>
          </a:p>
        </p:txBody>
      </p:sp>
    </p:spTree>
    <p:extLst>
      <p:ext uri="{BB962C8B-B14F-4D97-AF65-F5344CB8AC3E}">
        <p14:creationId xmlns:p14="http://schemas.microsoft.com/office/powerpoint/2010/main" val="863724097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">
            <a:extLst xmlns:a="http://schemas.openxmlformats.org/drawingml/2006/main">
              <a:ext uri="{FF2B5EF4-FFF2-40B4-BE49-F238E27FC236}">
                <a16:creationId xmlns:a16="http://schemas.microsoft.com/office/drawing/2014/main" id="{85622EBC-93A7-41ED-9308-79F98A4A1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57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47D71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47D7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247D71"/>
                </a:solidFill>
                <a:latin typeface="Noto Sans CJK TC"/>
                <a:ea typeface="Noto Sans CJK TC"/>
                <a:cs typeface="Noto Sans CJK TC"/>
              </a:rPr>
              <a:t>附錄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F3AFD5F-96F2-40A0-8A2A-26FEC9B95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390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課前演練與參考資料</a:t>
            </a:r>
          </a:p>
        </p:txBody>
      </p:sp>
      <p:sp>
        <p:nvSpPr>
          <p:cNvPr id="3" name="steps">
            <a:extLst xmlns:a="http://schemas.openxmlformats.org/drawingml/2006/main">
              <a:ext uri="{FF2B5EF4-FFF2-40B4-BE49-F238E27FC236}">
                <a16:creationId xmlns:a16="http://schemas.microsoft.com/office/drawing/2014/main" id="{8FA9AB82-D1AD-4D1F-9A11-F5DE7B8B3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68580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教師：完整跑一次 starter 與 notebook</a:t>
            </a:r>
          </a:p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助教：Windows/macOS 各驗一次</a:t>
            </a:r>
          </a:p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備援：solution、完整提示詞與測試</a:t>
            </a:r>
          </a:p>
          <a:p xmlns:a="http://schemas.openxmlformats.org/drawingml/2006/main">
            <a:pPr>
              <a:def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2B3B"/>
                </a:solidFill>
                <a:latin typeface="Noto Sans CJK TC"/>
                <a:ea typeface="Noto Sans CJK TC"/>
                <a:cs typeface="Noto Sans CJK TC"/>
              </a:rPr>
              <a:t>官方 Lab 11–14 供課後接續</a:t>
            </a:r>
          </a:p>
        </p:txBody>
      </p:sp>
      <p:sp>
        <p:nvSpPr>
          <p:cNvPr id="4" name="code-or-prompt">
            <a:extLst xmlns:a="http://schemas.openxmlformats.org/drawingml/2006/main">
              <a:ext uri="{FF2B5EF4-FFF2-40B4-BE49-F238E27FC236}">
                <a16:creationId xmlns:a16="http://schemas.microsoft.com/office/drawing/2014/main" id="{E645CB68-530C-48F4-A8D4-1012B62E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67000"/>
            <a:ext cx="6334125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本包來源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四份 YTP 附件（2026.10.15）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ytp26h2-labs 的 v1.1 / lab10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原教材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https://tw-ytp.github.io/vocabuddy/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Colab FAQ</a:t>
            </a:r>
          </a:p>
          <a:p xmlns:a="http://schemas.openxmlformats.org/drawingml/2006/main">
            <a:pPr>
              <a:def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https://research.google.com/colaboratory/faq.html</a:t>
            </a:r>
          </a:p>
        </p:txBody>
      </p:sp>
      <p:sp>
        <p:nvSpPr>
          <p:cNvPr id="5" name="checkpoint">
            <a:extLst xmlns:a="http://schemas.openxmlformats.org/drawingml/2006/main">
              <a:ext uri="{FF2B5EF4-FFF2-40B4-BE49-F238E27FC236}">
                <a16:creationId xmlns:a16="http://schemas.microsoft.com/office/drawing/2014/main" id="{42AD99F5-E843-44E5-8F15-B5D715A4B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353300"/>
            <a:ext cx="1371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246B65"/>
                </a:solidFill>
                <a:latin typeface="Noto Sans CJK TC"/>
                <a:ea typeface="Noto Sans CJK TC"/>
                <a:cs typeface="Noto Sans CJK TC"/>
              </a:rPr>
              <a:t>檢查點  課堂主線完成後，再依原教材延伸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8262212E-AE5A-416F-B0A3-3F11B5A7A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0200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70808B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080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70808B"/>
                </a:solidFill>
                <a:latin typeface="Noto Sans CJK TC"/>
                <a:ea typeface="Noto Sans CJK TC"/>
                <a:cs typeface="Noto Sans CJK TC"/>
              </a:rPr>
              <a:t>40 / 40</a:t>
            </a:r>
          </a:p>
        </p:txBody>
      </p:sp>
    </p:spTree>
    <p:extLst>
      <p:ext uri="{BB962C8B-B14F-4D97-AF65-F5344CB8AC3E}">
        <p14:creationId xmlns:p14="http://schemas.microsoft.com/office/powerpoint/2010/main" val="10593273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2026-10-16T03:16:21.8750000Z</dcterms:created>
  <dcterms:modified xsi:type="dcterms:W3CDTF">2026-10-16T03:16:21.8750000Z</dcterms:modified>
</coreProperties>
</file>